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3" r:id="rId25"/>
    <p:sldId id="280" r:id="rId26"/>
    <p:sldId id="281" r:id="rId27"/>
    <p:sldId id="279" r:id="rId28"/>
    <p:sldId id="282"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336" y="-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2EAA5C8F-27C9-4914-BE3B-9C793ED5AC4E}" type="datetimeFigureOut">
              <a:rPr lang="en-IN" smtClean="0"/>
              <a:t>22-11-2025</a:t>
            </a:fld>
            <a:endParaRPr lang="en-IN"/>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IN"/>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FEB4F50A-72D9-4A1C-A9D3-B2808B569703}"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EAA5C8F-27C9-4914-BE3B-9C793ED5AC4E}" type="datetimeFigureOut">
              <a:rPr lang="en-IN" smtClean="0"/>
              <a:t>22-11-2025</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FEB4F50A-72D9-4A1C-A9D3-B2808B569703}" type="slidenum">
              <a:rPr lang="en-IN" smtClean="0"/>
              <a:t>‹#›</a:t>
            </a:fld>
            <a:endParaRPr lang="en-IN"/>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2EAA5C8F-27C9-4914-BE3B-9C793ED5AC4E}" type="datetimeFigureOut">
              <a:rPr lang="en-IN" smtClean="0"/>
              <a:t>22-11-2025</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FEB4F50A-72D9-4A1C-A9D3-B2808B569703}" type="slidenum">
              <a:rPr lang="en-IN" smtClean="0"/>
              <a:t>‹#›</a:t>
            </a:fld>
            <a:endParaRPr lang="en-IN"/>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2EAA5C8F-27C9-4914-BE3B-9C793ED5AC4E}" type="datetimeFigureOut">
              <a:rPr lang="en-IN" smtClean="0"/>
              <a:t>22-11-2025</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FEB4F50A-72D9-4A1C-A9D3-B2808B569703}" type="slidenum">
              <a:rPr lang="en-IN" smtClean="0"/>
              <a:t>‹#›</a:t>
            </a:fld>
            <a:endParaRPr lang="en-IN"/>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2EAA5C8F-27C9-4914-BE3B-9C793ED5AC4E}" type="datetimeFigureOut">
              <a:rPr lang="en-IN" smtClean="0"/>
              <a:t>22-11-2025</a:t>
            </a:fld>
            <a:endParaRPr lang="en-IN"/>
          </a:p>
        </p:txBody>
      </p:sp>
      <p:sp>
        <p:nvSpPr>
          <p:cNvPr id="8" name="Footer Placeholder 7"/>
          <p:cNvSpPr>
            <a:spLocks noGrp="1"/>
          </p:cNvSpPr>
          <p:nvPr>
            <p:ph type="ftr" sz="quarter" idx="11"/>
          </p:nvPr>
        </p:nvSpPr>
        <p:spPr/>
        <p:txBody>
          <a:bodyPr/>
          <a:lstStyle>
            <a:extLst/>
          </a:lstStyle>
          <a:p>
            <a:endParaRPr lang="en-IN"/>
          </a:p>
        </p:txBody>
      </p:sp>
      <p:sp>
        <p:nvSpPr>
          <p:cNvPr id="9" name="Slide Number Placeholder 8"/>
          <p:cNvSpPr>
            <a:spLocks noGrp="1"/>
          </p:cNvSpPr>
          <p:nvPr>
            <p:ph type="sldNum" sz="quarter" idx="12"/>
          </p:nvPr>
        </p:nvSpPr>
        <p:spPr/>
        <p:txBody>
          <a:bodyPr/>
          <a:lstStyle>
            <a:extLst/>
          </a:lstStyle>
          <a:p>
            <a:fld id="{FEB4F50A-72D9-4A1C-A9D3-B2808B569703}"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2EAA5C8F-27C9-4914-BE3B-9C793ED5AC4E}" type="datetimeFigureOut">
              <a:rPr lang="en-IN" smtClean="0"/>
              <a:t>22-11-2025</a:t>
            </a:fld>
            <a:endParaRPr lang="en-IN"/>
          </a:p>
        </p:txBody>
      </p:sp>
      <p:sp>
        <p:nvSpPr>
          <p:cNvPr id="4" name="Footer Placeholder 3"/>
          <p:cNvSpPr>
            <a:spLocks noGrp="1"/>
          </p:cNvSpPr>
          <p:nvPr>
            <p:ph type="ftr" sz="quarter" idx="11"/>
          </p:nvPr>
        </p:nvSpPr>
        <p:spPr/>
        <p:txBody>
          <a:bodyPr/>
          <a:lstStyle>
            <a:extLst/>
          </a:lstStyle>
          <a:p>
            <a:endParaRPr lang="en-IN"/>
          </a:p>
        </p:txBody>
      </p:sp>
      <p:sp>
        <p:nvSpPr>
          <p:cNvPr id="5" name="Slide Number Placeholder 4"/>
          <p:cNvSpPr>
            <a:spLocks noGrp="1"/>
          </p:cNvSpPr>
          <p:nvPr>
            <p:ph type="sldNum" sz="quarter" idx="12"/>
          </p:nvPr>
        </p:nvSpPr>
        <p:spPr/>
        <p:txBody>
          <a:bodyPr/>
          <a:lstStyle>
            <a:extLst/>
          </a:lstStyle>
          <a:p>
            <a:fld id="{FEB4F50A-72D9-4A1C-A9D3-B2808B569703}" type="slidenum">
              <a:rPr lang="en-IN" smtClean="0"/>
              <a:t>‹#›</a:t>
            </a:fld>
            <a:endParaRPr lang="en-IN"/>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2EAA5C8F-27C9-4914-BE3B-9C793ED5AC4E}" type="datetimeFigureOut">
              <a:rPr lang="en-IN" smtClean="0"/>
              <a:t>22-11-2025</a:t>
            </a:fld>
            <a:endParaRPr lang="en-IN"/>
          </a:p>
        </p:txBody>
      </p:sp>
      <p:sp>
        <p:nvSpPr>
          <p:cNvPr id="3" name="Footer Placeholder 2"/>
          <p:cNvSpPr>
            <a:spLocks noGrp="1"/>
          </p:cNvSpPr>
          <p:nvPr>
            <p:ph type="ftr" sz="quarter" idx="11"/>
          </p:nvPr>
        </p:nvSpPr>
        <p:spPr/>
        <p:txBody>
          <a:bodyPr/>
          <a:lstStyle>
            <a:extLst/>
          </a:lstStyle>
          <a:p>
            <a:endParaRPr lang="en-IN"/>
          </a:p>
        </p:txBody>
      </p:sp>
      <p:sp>
        <p:nvSpPr>
          <p:cNvPr id="4" name="Slide Number Placeholder 3"/>
          <p:cNvSpPr>
            <a:spLocks noGrp="1"/>
          </p:cNvSpPr>
          <p:nvPr>
            <p:ph type="sldNum" sz="quarter" idx="12"/>
          </p:nvPr>
        </p:nvSpPr>
        <p:spPr/>
        <p:txBody>
          <a:bodyPr/>
          <a:lstStyle>
            <a:extLst/>
          </a:lstStyle>
          <a:p>
            <a:fld id="{FEB4F50A-72D9-4A1C-A9D3-B2808B569703}"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2EAA5C8F-27C9-4914-BE3B-9C793ED5AC4E}" type="datetimeFigureOut">
              <a:rPr lang="en-IN" smtClean="0"/>
              <a:t>22-11-2025</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FEB4F50A-72D9-4A1C-A9D3-B2808B569703}"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2EAA5C8F-27C9-4914-BE3B-9C793ED5AC4E}" type="datetimeFigureOut">
              <a:rPr lang="en-IN" smtClean="0"/>
              <a:t>22-11-2025</a:t>
            </a:fld>
            <a:endParaRPr lang="en-IN"/>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IN"/>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FEB4F50A-72D9-4A1C-A9D3-B2808B569703}" type="slidenum">
              <a:rPr lang="en-IN" smtClean="0"/>
              <a:t>‹#›</a:t>
            </a:fld>
            <a:endParaRPr lang="en-IN"/>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EAA5C8F-27C9-4914-BE3B-9C793ED5AC4E}" type="datetimeFigureOut">
              <a:rPr lang="en-IN" smtClean="0"/>
              <a:t>22-11-2025</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FEB4F50A-72D9-4A1C-A9D3-B2808B569703}"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EAA5C8F-27C9-4914-BE3B-9C793ED5AC4E}" type="datetimeFigureOut">
              <a:rPr lang="en-IN" smtClean="0"/>
              <a:t>22-11-2025</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FEB4F50A-72D9-4A1C-A9D3-B2808B569703}"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2EAA5C8F-27C9-4914-BE3B-9C793ED5AC4E}" type="datetimeFigureOut">
              <a:rPr lang="en-IN" smtClean="0"/>
              <a:t>22-11-2025</a:t>
            </a:fld>
            <a:endParaRPr lang="en-IN"/>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IN"/>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FEB4F50A-72D9-4A1C-A9D3-B2808B569703}"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332656"/>
            <a:ext cx="7772400" cy="1512168"/>
          </a:xfrm>
        </p:spPr>
        <p:txBody>
          <a:bodyPr>
            <a:noAutofit/>
          </a:bodyPr>
          <a:lstStyle/>
          <a:p>
            <a:r>
              <a:rPr lang="en-IN" sz="4000" dirty="0" smtClean="0">
                <a:latin typeface="Times New Roman" pitchFamily="18" charset="0"/>
                <a:cs typeface="Times New Roman" pitchFamily="18" charset="0"/>
              </a:rPr>
              <a:t>Coca-Cola </a:t>
            </a:r>
            <a:r>
              <a:rPr lang="en-IN" sz="4000" dirty="0">
                <a:latin typeface="Times New Roman" pitchFamily="18" charset="0"/>
                <a:cs typeface="Times New Roman" pitchFamily="18" charset="0"/>
              </a:rPr>
              <a:t>Stock Analysis</a:t>
            </a:r>
          </a:p>
        </p:txBody>
      </p:sp>
      <p:sp>
        <p:nvSpPr>
          <p:cNvPr id="3" name="Subtitle 2"/>
          <p:cNvSpPr>
            <a:spLocks noGrp="1"/>
          </p:cNvSpPr>
          <p:nvPr>
            <p:ph type="subTitle" idx="1"/>
          </p:nvPr>
        </p:nvSpPr>
        <p:spPr>
          <a:xfrm>
            <a:off x="755576" y="2060848"/>
            <a:ext cx="7848872" cy="3888432"/>
          </a:xfrm>
          <a:solidFill>
            <a:schemeClr val="bg1"/>
          </a:solidFill>
        </p:spPr>
        <p:txBody>
          <a:bodyPr>
            <a:normAutofit fontScale="85000" lnSpcReduction="20000"/>
          </a:bodyPr>
          <a:lstStyle/>
          <a:p>
            <a:r>
              <a:rPr lang="en-US" dirty="0">
                <a:latin typeface="Times New Roman" pitchFamily="18" charset="0"/>
                <a:cs typeface="Times New Roman" pitchFamily="18" charset="0"/>
              </a:rPr>
              <a:t>A Comprehensive Analysis of Coca-Cola’s Stock Performance Using Data Analytics, Machine Learning, and Financial </a:t>
            </a:r>
            <a:r>
              <a:rPr lang="en-US" dirty="0" smtClean="0">
                <a:latin typeface="Times New Roman" pitchFamily="18" charset="0"/>
                <a:cs typeface="Times New Roman" pitchFamily="18" charset="0"/>
              </a:rPr>
              <a:t>Insights</a:t>
            </a:r>
          </a:p>
          <a:p>
            <a:endParaRPr lang="en-US" b="1" dirty="0">
              <a:latin typeface="Bahnschrift Light SemiCondensed" pitchFamily="34" charset="0"/>
              <a:cs typeface="Times New Roman" pitchFamily="18" charset="0"/>
            </a:endParaRPr>
          </a:p>
          <a:p>
            <a:endParaRPr lang="en-US" b="1" dirty="0" smtClean="0">
              <a:latin typeface="+mj-lt"/>
              <a:cs typeface="Times New Roman" pitchFamily="18" charset="0"/>
            </a:endParaRPr>
          </a:p>
          <a:p>
            <a:endParaRPr lang="en-US" b="1" dirty="0">
              <a:latin typeface="+mj-lt"/>
              <a:cs typeface="Times New Roman" pitchFamily="18" charset="0"/>
            </a:endParaRPr>
          </a:p>
          <a:p>
            <a:endParaRPr lang="en-US" b="1" dirty="0" smtClean="0">
              <a:latin typeface="+mj-lt"/>
              <a:cs typeface="Times New Roman" pitchFamily="18" charset="0"/>
            </a:endParaRPr>
          </a:p>
          <a:p>
            <a:endParaRPr lang="en-US" b="1" dirty="0">
              <a:latin typeface="+mj-lt"/>
              <a:cs typeface="Times New Roman" pitchFamily="18" charset="0"/>
            </a:endParaRPr>
          </a:p>
          <a:p>
            <a:endParaRPr lang="en-US" b="1" dirty="0" smtClean="0">
              <a:latin typeface="+mj-lt"/>
              <a:cs typeface="Times New Roman" pitchFamily="18" charset="0"/>
            </a:endParaRPr>
          </a:p>
          <a:p>
            <a:endParaRPr lang="en-US" b="1" dirty="0">
              <a:latin typeface="+mj-lt"/>
              <a:cs typeface="Times New Roman" pitchFamily="18" charset="0"/>
            </a:endParaRPr>
          </a:p>
          <a:p>
            <a:endParaRPr lang="en-US" b="1" dirty="0" smtClean="0">
              <a:latin typeface="+mj-lt"/>
              <a:cs typeface="Times New Roman" pitchFamily="18" charset="0"/>
            </a:endParaRPr>
          </a:p>
          <a:p>
            <a:r>
              <a:rPr lang="en-US" b="1" dirty="0">
                <a:latin typeface="+mj-lt"/>
                <a:cs typeface="Times New Roman" pitchFamily="18" charset="0"/>
              </a:rPr>
              <a:t> </a:t>
            </a:r>
            <a:r>
              <a:rPr lang="en-US" b="1" dirty="0" smtClean="0">
                <a:latin typeface="+mj-lt"/>
                <a:cs typeface="Times New Roman" pitchFamily="18" charset="0"/>
              </a:rPr>
              <a:t>     </a:t>
            </a:r>
            <a:r>
              <a:rPr lang="en-US" b="1" dirty="0" smtClean="0">
                <a:latin typeface="+mj-lt"/>
                <a:cs typeface="Times New Roman" pitchFamily="18" charset="0"/>
              </a:rPr>
              <a:t>-</a:t>
            </a:r>
            <a:r>
              <a:rPr lang="en-US" b="1" dirty="0" smtClean="0">
                <a:latin typeface="+mj-lt"/>
                <a:cs typeface="Times New Roman" pitchFamily="18" charset="0"/>
              </a:rPr>
              <a:t>Sonali Pawar</a:t>
            </a:r>
            <a:endParaRPr lang="en-IN" b="1" dirty="0">
              <a:latin typeface="+mj-lt"/>
              <a:cs typeface="Times New Roman" pitchFamily="18" charset="0"/>
            </a:endParaRPr>
          </a:p>
        </p:txBody>
      </p:sp>
    </p:spTree>
    <p:extLst>
      <p:ext uri="{BB962C8B-B14F-4D97-AF65-F5344CB8AC3E}">
        <p14:creationId xmlns:p14="http://schemas.microsoft.com/office/powerpoint/2010/main" val="3350146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1100628"/>
            <a:ext cx="7520940" cy="5136684"/>
          </a:xfrm>
        </p:spPr>
        <p:txBody>
          <a:bodyPr>
            <a:normAutofit lnSpcReduction="10000"/>
          </a:bodyPr>
          <a:lstStyle/>
          <a:p>
            <a:r>
              <a:rPr lang="en-US" sz="2000" b="0" dirty="0">
                <a:latin typeface="Times New Roman" pitchFamily="18" charset="0"/>
                <a:cs typeface="Times New Roman" pitchFamily="18" charset="0"/>
              </a:rPr>
              <a:t>The objective of this project is to perform a comprehensive analysis of Coca-Cola’s stock performance by integrating data analytics, machine learning, and financial </a:t>
            </a:r>
            <a:r>
              <a:rPr lang="en-US" sz="2000" b="0" dirty="0" smtClean="0">
                <a:latin typeface="Times New Roman" pitchFamily="18" charset="0"/>
                <a:cs typeface="Times New Roman" pitchFamily="18" charset="0"/>
              </a:rPr>
              <a:t>analysis. The </a:t>
            </a:r>
            <a:r>
              <a:rPr lang="en-US" sz="2000" b="0" dirty="0">
                <a:latin typeface="Times New Roman" pitchFamily="18" charset="0"/>
                <a:cs typeface="Times New Roman" pitchFamily="18" charset="0"/>
              </a:rPr>
              <a:t>goal is to clean and prepare historical stock data, engineer useful technical indicators, visualize key market trends, and build a predictive model to forecast future prices.</a:t>
            </a:r>
            <a:br>
              <a:rPr lang="en-US" sz="2000" b="0" dirty="0">
                <a:latin typeface="Times New Roman" pitchFamily="18" charset="0"/>
                <a:cs typeface="Times New Roman" pitchFamily="18" charset="0"/>
              </a:rPr>
            </a:br>
            <a:r>
              <a:rPr lang="en-US" sz="2000" b="0" dirty="0">
                <a:latin typeface="Times New Roman" pitchFamily="18" charset="0"/>
                <a:cs typeface="Times New Roman" pitchFamily="18" charset="0"/>
              </a:rPr>
              <a:t>Additionally, the project aims to implement a live prediction system using real-time data and evaluate Coca-Cola’s financial health using fundamental metrics, providing a holistic view of the company’s </a:t>
            </a:r>
            <a:r>
              <a:rPr lang="en-US" sz="2000" b="0" dirty="0" smtClean="0">
                <a:latin typeface="Times New Roman" pitchFamily="18" charset="0"/>
                <a:cs typeface="Times New Roman" pitchFamily="18" charset="0"/>
              </a:rPr>
              <a:t>performance</a:t>
            </a:r>
            <a:r>
              <a:rPr lang="en-US" dirty="0" smtClean="0">
                <a:latin typeface="Times New Roman" pitchFamily="18" charset="0"/>
                <a:cs typeface="Times New Roman" pitchFamily="18" charset="0"/>
              </a:rPr>
              <a:t>.</a:t>
            </a:r>
          </a:p>
          <a:p>
            <a:pPr>
              <a:buFont typeface="Wingdings" pitchFamily="2" charset="2"/>
              <a:buChar char="Ø"/>
            </a:pPr>
            <a:r>
              <a:rPr lang="en-US" sz="2000" b="0" dirty="0">
                <a:latin typeface="Times New Roman" pitchFamily="18" charset="0"/>
                <a:cs typeface="Times New Roman" pitchFamily="18" charset="0"/>
              </a:rPr>
              <a:t>Analyze Coca-Cola’s stock performance using historical market data</a:t>
            </a:r>
            <a:r>
              <a:rPr lang="en-US" sz="2000" b="0" dirty="0" smtClean="0">
                <a:latin typeface="Times New Roman" pitchFamily="18" charset="0"/>
                <a:cs typeface="Times New Roman" pitchFamily="18" charset="0"/>
              </a:rPr>
              <a:t>.</a:t>
            </a:r>
          </a:p>
          <a:p>
            <a:pPr>
              <a:buFont typeface="Wingdings" pitchFamily="2" charset="2"/>
              <a:buChar char="Ø"/>
            </a:pPr>
            <a:r>
              <a:rPr lang="en-US" sz="2000" b="0" dirty="0">
                <a:latin typeface="Times New Roman" pitchFamily="18" charset="0"/>
                <a:cs typeface="Times New Roman" pitchFamily="18" charset="0"/>
              </a:rPr>
              <a:t>Visualize stock trends and patterns through various statistical and graphical techniques</a:t>
            </a:r>
            <a:r>
              <a:rPr lang="en-US" sz="2000" b="0" dirty="0" smtClean="0">
                <a:latin typeface="Times New Roman" pitchFamily="18" charset="0"/>
                <a:cs typeface="Times New Roman" pitchFamily="18" charset="0"/>
              </a:rPr>
              <a:t>.</a:t>
            </a:r>
          </a:p>
          <a:p>
            <a:pPr>
              <a:buFont typeface="Wingdings" pitchFamily="2" charset="2"/>
              <a:buChar char="Ø"/>
            </a:pPr>
            <a:r>
              <a:rPr lang="en-US" sz="2000" b="0" dirty="0">
                <a:latin typeface="Times New Roman" pitchFamily="18" charset="0"/>
                <a:cs typeface="Times New Roman" pitchFamily="18" charset="0"/>
              </a:rPr>
              <a:t>Conduct Financial Analysis to evaluate Coca-Cola’s profitability, margins, and overall financial health.</a:t>
            </a:r>
            <a:endParaRPr lang="en-IN" sz="2000" b="0" dirty="0">
              <a:latin typeface="Times New Roman" pitchFamily="18" charset="0"/>
              <a:cs typeface="Times New Roman" pitchFamily="18" charset="0"/>
            </a:endParaRPr>
          </a:p>
        </p:txBody>
      </p:sp>
      <p:sp>
        <p:nvSpPr>
          <p:cNvPr id="2" name="Title 1"/>
          <p:cNvSpPr>
            <a:spLocks noGrp="1"/>
          </p:cNvSpPr>
          <p:nvPr>
            <p:ph type="title"/>
          </p:nvPr>
        </p:nvSpPr>
        <p:spPr/>
        <p:txBody>
          <a:bodyPr>
            <a:normAutofit/>
          </a:bodyPr>
          <a:lstStyle/>
          <a:p>
            <a:r>
              <a:rPr lang="en-IN" sz="4000" dirty="0" smtClean="0">
                <a:latin typeface="Times New Roman" pitchFamily="18" charset="0"/>
                <a:cs typeface="Times New Roman" pitchFamily="18" charset="0"/>
              </a:rPr>
              <a:t>Project Objective</a:t>
            </a:r>
            <a:endParaRPr lang="en-IN" sz="4000" dirty="0">
              <a:latin typeface="Times New Roman" pitchFamily="18" charset="0"/>
              <a:cs typeface="Times New Roman" pitchFamily="18" charset="0"/>
            </a:endParaRPr>
          </a:p>
        </p:txBody>
      </p:sp>
    </p:spTree>
    <p:extLst>
      <p:ext uri="{BB962C8B-B14F-4D97-AF65-F5344CB8AC3E}">
        <p14:creationId xmlns:p14="http://schemas.microsoft.com/office/powerpoint/2010/main" val="18279960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1100628"/>
            <a:ext cx="7520940" cy="5424716"/>
          </a:xfrm>
        </p:spPr>
        <p:txBody>
          <a:bodyPr>
            <a:normAutofit fontScale="25000" lnSpcReduction="20000"/>
          </a:bodyPr>
          <a:lstStyle/>
          <a:p>
            <a:pPr marL="0" indent="0"/>
            <a:r>
              <a:rPr lang="en-US" sz="8000" b="0" dirty="0" smtClean="0">
                <a:latin typeface="Times New Roman" pitchFamily="18" charset="0"/>
                <a:cs typeface="Times New Roman" pitchFamily="18" charset="0"/>
              </a:rPr>
              <a:t>The </a:t>
            </a:r>
            <a:r>
              <a:rPr lang="en-US" sz="8000" b="0" dirty="0">
                <a:latin typeface="Times New Roman" pitchFamily="18" charset="0"/>
                <a:cs typeface="Times New Roman" pitchFamily="18" charset="0"/>
              </a:rPr>
              <a:t>project uses two datasets — Coca-Cola Stock History and Coca-Cola Stock Info, containing historical price movements and financial indicators of The Coca-Cola Company.</a:t>
            </a:r>
          </a:p>
          <a:p>
            <a:r>
              <a:rPr lang="en-US" sz="8000" dirty="0">
                <a:latin typeface="Times New Roman" pitchFamily="18" charset="0"/>
                <a:cs typeface="Times New Roman" pitchFamily="18" charset="0"/>
              </a:rPr>
              <a:t>Dataset Highlights</a:t>
            </a:r>
          </a:p>
          <a:p>
            <a:pPr marL="0" indent="0"/>
            <a:r>
              <a:rPr lang="en-US" sz="8000" b="0" dirty="0">
                <a:latin typeface="Times New Roman" pitchFamily="18" charset="0"/>
                <a:cs typeface="Times New Roman" pitchFamily="18" charset="0"/>
              </a:rPr>
              <a:t>Time Period: 1962 – 2025</a:t>
            </a:r>
          </a:p>
          <a:p>
            <a:r>
              <a:rPr lang="en-US" sz="8000" b="0" dirty="0">
                <a:latin typeface="Times New Roman" pitchFamily="18" charset="0"/>
                <a:cs typeface="Times New Roman" pitchFamily="18" charset="0"/>
              </a:rPr>
              <a:t>Records (Rows): ~15,000</a:t>
            </a:r>
          </a:p>
          <a:p>
            <a:r>
              <a:rPr lang="en-US" sz="8000" b="0" dirty="0">
                <a:latin typeface="Times New Roman" pitchFamily="18" charset="0"/>
                <a:cs typeface="Times New Roman" pitchFamily="18" charset="0"/>
              </a:rPr>
              <a:t>Features (Columns): 6 main attributes (before feature engineering)</a:t>
            </a:r>
          </a:p>
          <a:p>
            <a:r>
              <a:rPr lang="en-US" sz="8000" b="0" dirty="0">
                <a:latin typeface="Times New Roman" pitchFamily="18" charset="0"/>
                <a:cs typeface="Times New Roman" pitchFamily="18" charset="0"/>
              </a:rPr>
              <a:t>Market Source: Yahoo Finance (Ticker: KO)</a:t>
            </a:r>
          </a:p>
          <a:p>
            <a:r>
              <a:rPr lang="en-US" sz="8000" b="0" dirty="0" smtClean="0">
                <a:latin typeface="Times New Roman" pitchFamily="18" charset="0"/>
                <a:cs typeface="Times New Roman" pitchFamily="18" charset="0"/>
              </a:rPr>
              <a:t>Stock Range: Price between $0.03 – $65</a:t>
            </a:r>
          </a:p>
          <a:p>
            <a:pPr marL="0" indent="0"/>
            <a:r>
              <a:rPr lang="en-US" sz="8000" dirty="0" smtClean="0">
                <a:latin typeface="Times New Roman" pitchFamily="18" charset="0"/>
                <a:cs typeface="Times New Roman" pitchFamily="18" charset="0"/>
              </a:rPr>
              <a:t>Coca-Cola </a:t>
            </a:r>
            <a:r>
              <a:rPr lang="en-US" sz="8000" dirty="0">
                <a:latin typeface="Times New Roman" pitchFamily="18" charset="0"/>
                <a:cs typeface="Times New Roman" pitchFamily="18" charset="0"/>
              </a:rPr>
              <a:t>Stock History:</a:t>
            </a:r>
          </a:p>
          <a:p>
            <a:r>
              <a:rPr lang="en-US" sz="8000" b="0" dirty="0">
                <a:latin typeface="Times New Roman" pitchFamily="18" charset="0"/>
                <a:cs typeface="Times New Roman" pitchFamily="18" charset="0"/>
              </a:rPr>
              <a:t>Date — Trading date</a:t>
            </a:r>
          </a:p>
          <a:p>
            <a:r>
              <a:rPr lang="en-US" sz="8000" b="0" dirty="0">
                <a:latin typeface="Times New Roman" pitchFamily="18" charset="0"/>
                <a:cs typeface="Times New Roman" pitchFamily="18" charset="0"/>
              </a:rPr>
              <a:t>Open — Opening stock price</a:t>
            </a:r>
          </a:p>
          <a:p>
            <a:r>
              <a:rPr lang="en-US" sz="8000" b="0" dirty="0">
                <a:latin typeface="Times New Roman" pitchFamily="18" charset="0"/>
                <a:cs typeface="Times New Roman" pitchFamily="18" charset="0"/>
              </a:rPr>
              <a:t>High — Highest price of the day</a:t>
            </a:r>
          </a:p>
          <a:p>
            <a:r>
              <a:rPr lang="en-US" sz="8000" b="0" dirty="0">
                <a:latin typeface="Times New Roman" pitchFamily="18" charset="0"/>
                <a:cs typeface="Times New Roman" pitchFamily="18" charset="0"/>
              </a:rPr>
              <a:t>Low — Lowest price of the day</a:t>
            </a:r>
          </a:p>
          <a:p>
            <a:r>
              <a:rPr lang="en-US" sz="8000" dirty="0" smtClean="0">
                <a:latin typeface="Times New Roman" pitchFamily="18" charset="0"/>
                <a:cs typeface="Times New Roman" pitchFamily="18" charset="0"/>
              </a:rPr>
              <a:t>Coca-Cola </a:t>
            </a:r>
            <a:r>
              <a:rPr lang="en-US" sz="8000" dirty="0">
                <a:latin typeface="Times New Roman" pitchFamily="18" charset="0"/>
                <a:cs typeface="Times New Roman" pitchFamily="18" charset="0"/>
              </a:rPr>
              <a:t>Stock Info:</a:t>
            </a:r>
          </a:p>
          <a:p>
            <a:r>
              <a:rPr lang="en-US" sz="8000" b="0" dirty="0" smtClean="0">
                <a:latin typeface="Times New Roman" pitchFamily="18" charset="0"/>
                <a:cs typeface="Times New Roman" pitchFamily="18" charset="0"/>
              </a:rPr>
              <a:t>Description — Name of financial metric (e.g., P/E Ratio, Profit Margin, Revenue Growth)</a:t>
            </a:r>
          </a:p>
          <a:p>
            <a:r>
              <a:rPr lang="en-US" sz="8000" b="0" dirty="0" smtClean="0">
                <a:latin typeface="Times New Roman" pitchFamily="18" charset="0"/>
                <a:cs typeface="Times New Roman" pitchFamily="18" charset="0"/>
              </a:rPr>
              <a:t>Information — Corresponding numeric or textual value</a:t>
            </a:r>
          </a:p>
          <a:p>
            <a:endParaRPr lang="en-IN" dirty="0"/>
          </a:p>
        </p:txBody>
      </p:sp>
      <p:sp>
        <p:nvSpPr>
          <p:cNvPr id="2" name="Title 1"/>
          <p:cNvSpPr>
            <a:spLocks noGrp="1"/>
          </p:cNvSpPr>
          <p:nvPr>
            <p:ph type="title"/>
          </p:nvPr>
        </p:nvSpPr>
        <p:spPr/>
        <p:txBody>
          <a:bodyPr>
            <a:normAutofit/>
          </a:bodyPr>
          <a:lstStyle/>
          <a:p>
            <a:r>
              <a:rPr lang="en-IN" sz="4000" dirty="0" smtClean="0">
                <a:latin typeface="Times New Roman" pitchFamily="18" charset="0"/>
                <a:cs typeface="Times New Roman" pitchFamily="18" charset="0"/>
              </a:rPr>
              <a:t>Data overview</a:t>
            </a:r>
            <a:endParaRPr lang="en-IN" sz="4000" dirty="0">
              <a:latin typeface="Times New Roman" pitchFamily="18" charset="0"/>
              <a:cs typeface="Times New Roman" pitchFamily="18" charset="0"/>
            </a:endParaRPr>
          </a:p>
        </p:txBody>
      </p:sp>
    </p:spTree>
    <p:extLst>
      <p:ext uri="{BB962C8B-B14F-4D97-AF65-F5344CB8AC3E}">
        <p14:creationId xmlns:p14="http://schemas.microsoft.com/office/powerpoint/2010/main" val="25188278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3568" y="404664"/>
            <a:ext cx="7632848" cy="3168352"/>
          </a:xfrm>
        </p:spPr>
      </p:pic>
      <p:sp>
        <p:nvSpPr>
          <p:cNvPr id="2" name="Title 1"/>
          <p:cNvSpPr>
            <a:spLocks noGrp="1"/>
          </p:cNvSpPr>
          <p:nvPr>
            <p:ph type="title"/>
          </p:nvPr>
        </p:nvSpPr>
        <p:spPr>
          <a:xfrm>
            <a:off x="683568" y="3861048"/>
            <a:ext cx="7560840" cy="1656184"/>
          </a:xfrm>
        </p:spPr>
        <p:txBody>
          <a:bodyPr>
            <a:normAutofit fontScale="90000"/>
          </a:bodyPr>
          <a:lstStyle/>
          <a:p>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a:latin typeface="Times New Roman" pitchFamily="18" charset="0"/>
                <a:cs typeface="Times New Roman" pitchFamily="18" charset="0"/>
              </a:rPr>
              <a:t/>
            </a:r>
            <a:br>
              <a:rPr lang="en-US" sz="1400" dirty="0">
                <a:latin typeface="Times New Roman" pitchFamily="18" charset="0"/>
                <a:cs typeface="Times New Roman" pitchFamily="18" charset="0"/>
              </a:rPr>
            </a:br>
            <a:r>
              <a:rPr lang="en-US" sz="1400" dirty="0" smtClean="0">
                <a:latin typeface="Times New Roman" pitchFamily="18" charset="0"/>
                <a:cs typeface="Times New Roman" pitchFamily="18" charset="0"/>
              </a:rPr>
              <a:t>“</a:t>
            </a:r>
            <a:r>
              <a:rPr lang="en-US" sz="2400" b="0" dirty="0" smtClean="0">
                <a:latin typeface="Times New Roman" pitchFamily="18" charset="0"/>
                <a:cs typeface="Times New Roman" pitchFamily="18" charset="0"/>
              </a:rPr>
              <a:t>I </a:t>
            </a:r>
            <a:r>
              <a:rPr lang="en-US" sz="2400" b="0" dirty="0">
                <a:latin typeface="Times New Roman" pitchFamily="18" charset="0"/>
                <a:cs typeface="Times New Roman" pitchFamily="18" charset="0"/>
              </a:rPr>
              <a:t>started by loading Coca-Cola’s historical stock data using the Pandas library.</a:t>
            </a:r>
            <a:br>
              <a:rPr lang="en-US" sz="2400" b="0" dirty="0">
                <a:latin typeface="Times New Roman" pitchFamily="18" charset="0"/>
                <a:cs typeface="Times New Roman" pitchFamily="18" charset="0"/>
              </a:rPr>
            </a:br>
            <a:r>
              <a:rPr lang="en-US" sz="2400" b="0" dirty="0">
                <a:latin typeface="Times New Roman" pitchFamily="18" charset="0"/>
                <a:cs typeface="Times New Roman" pitchFamily="18" charset="0"/>
              </a:rPr>
              <a:t>The dataset contains over 15,000 daily records of Open, High, Low, Close, and Volume values, covering more than 60 years of market performance.</a:t>
            </a:r>
            <a:br>
              <a:rPr lang="en-US" sz="2400" b="0" dirty="0">
                <a:latin typeface="Times New Roman" pitchFamily="18" charset="0"/>
                <a:cs typeface="Times New Roman" pitchFamily="18" charset="0"/>
              </a:rPr>
            </a:br>
            <a:r>
              <a:rPr lang="en-US" sz="2400" b="0" dirty="0">
                <a:latin typeface="Times New Roman" pitchFamily="18" charset="0"/>
                <a:cs typeface="Times New Roman" pitchFamily="18" charset="0"/>
              </a:rPr>
              <a:t>We verified the structure of the dataset using </a:t>
            </a:r>
            <a:r>
              <a:rPr lang="en-US" sz="2400" b="0" dirty="0" err="1">
                <a:latin typeface="Times New Roman" pitchFamily="18" charset="0"/>
                <a:cs typeface="Times New Roman" pitchFamily="18" charset="0"/>
              </a:rPr>
              <a:t>data.shape</a:t>
            </a:r>
            <a:r>
              <a:rPr lang="en-US" sz="2400" b="0" dirty="0">
                <a:latin typeface="Times New Roman" pitchFamily="18" charset="0"/>
                <a:cs typeface="Times New Roman" pitchFamily="18" charset="0"/>
              </a:rPr>
              <a:t> and displayed the first few rows to confirm that the data loaded correctly.”</a:t>
            </a:r>
            <a:endParaRPr lang="en-IN" sz="2400" b="0" dirty="0">
              <a:latin typeface="Times New Roman" pitchFamily="18" charset="0"/>
              <a:cs typeface="Times New Roman" pitchFamily="18" charset="0"/>
            </a:endParaRPr>
          </a:p>
        </p:txBody>
      </p:sp>
    </p:spTree>
    <p:extLst>
      <p:ext uri="{BB962C8B-B14F-4D97-AF65-F5344CB8AC3E}">
        <p14:creationId xmlns:p14="http://schemas.microsoft.com/office/powerpoint/2010/main" val="2474752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115616" y="332656"/>
            <a:ext cx="6192688" cy="3456384"/>
          </a:xfrm>
        </p:spPr>
      </p:pic>
      <p:sp>
        <p:nvSpPr>
          <p:cNvPr id="2" name="Title 1"/>
          <p:cNvSpPr>
            <a:spLocks noGrp="1"/>
          </p:cNvSpPr>
          <p:nvPr>
            <p:ph type="title"/>
          </p:nvPr>
        </p:nvSpPr>
        <p:spPr>
          <a:xfrm>
            <a:off x="827584" y="4221088"/>
            <a:ext cx="7704856" cy="1368152"/>
          </a:xfrm>
        </p:spPr>
        <p:txBody>
          <a:bodyPr>
            <a:normAutofit fontScale="90000"/>
          </a:bodyPr>
          <a:lstStyle/>
          <a:p>
            <a:r>
              <a:rPr lang="en-US" sz="1400" dirty="0">
                <a:latin typeface="Times New Roman" pitchFamily="18" charset="0"/>
                <a:cs typeface="Times New Roman" pitchFamily="18" charset="0"/>
              </a:rPr>
              <a:t>“</a:t>
            </a:r>
            <a:r>
              <a:rPr lang="en-US" sz="2400" b="0" dirty="0">
                <a:latin typeface="Times New Roman" pitchFamily="18" charset="0"/>
                <a:cs typeface="Times New Roman" pitchFamily="18" charset="0"/>
              </a:rPr>
              <a:t>Feature engineering was performed to create additional variables that better represent stock behavior.</a:t>
            </a:r>
            <a:br>
              <a:rPr lang="en-US" sz="2400" b="0" dirty="0">
                <a:latin typeface="Times New Roman" pitchFamily="18" charset="0"/>
                <a:cs typeface="Times New Roman" pitchFamily="18" charset="0"/>
              </a:rPr>
            </a:br>
            <a:r>
              <a:rPr lang="en-US" sz="2400" b="0" dirty="0">
                <a:latin typeface="Times New Roman" pitchFamily="18" charset="0"/>
                <a:cs typeface="Times New Roman" pitchFamily="18" charset="0"/>
              </a:rPr>
              <a:t>We calculated moving averages (MA_20, MA_50) to capture short- and mid-term trends, daily returns to measure performance, and volatility to assess risk.</a:t>
            </a:r>
            <a:br>
              <a:rPr lang="en-US" sz="2400" b="0" dirty="0">
                <a:latin typeface="Times New Roman" pitchFamily="18" charset="0"/>
                <a:cs typeface="Times New Roman" pitchFamily="18" charset="0"/>
              </a:rPr>
            </a:br>
            <a:r>
              <a:rPr lang="en-US" sz="2400" b="0" dirty="0">
                <a:latin typeface="Times New Roman" pitchFamily="18" charset="0"/>
                <a:cs typeface="Times New Roman" pitchFamily="18" charset="0"/>
              </a:rPr>
              <a:t>These derived features enhance the predictive capability of the model.”</a:t>
            </a:r>
            <a:endParaRPr lang="en-IN" sz="2400" b="0" dirty="0">
              <a:latin typeface="Times New Roman" pitchFamily="18" charset="0"/>
              <a:cs typeface="Times New Roman" pitchFamily="18" charset="0"/>
            </a:endParaRPr>
          </a:p>
        </p:txBody>
      </p:sp>
    </p:spTree>
    <p:extLst>
      <p:ext uri="{BB962C8B-B14F-4D97-AF65-F5344CB8AC3E}">
        <p14:creationId xmlns:p14="http://schemas.microsoft.com/office/powerpoint/2010/main" val="800098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996952"/>
            <a:ext cx="8229600" cy="3010339"/>
          </a:xfrm>
        </p:spPr>
        <p:txBody>
          <a:bodyPr>
            <a:normAutofit/>
          </a:bodyPr>
          <a:lstStyle/>
          <a:p>
            <a:r>
              <a:rPr lang="en-US" sz="2000" dirty="0">
                <a:latin typeface="Times New Roman" pitchFamily="18" charset="0"/>
                <a:cs typeface="Times New Roman" pitchFamily="18" charset="0"/>
              </a:rPr>
              <a:t>The </a:t>
            </a:r>
            <a:r>
              <a:rPr lang="en-US" sz="2000" b="1" dirty="0">
                <a:latin typeface="Times New Roman" pitchFamily="18" charset="0"/>
                <a:cs typeface="Times New Roman" pitchFamily="18" charset="0"/>
              </a:rPr>
              <a:t>blue line</a:t>
            </a:r>
            <a:r>
              <a:rPr lang="en-US" sz="2000" dirty="0">
                <a:latin typeface="Times New Roman" pitchFamily="18" charset="0"/>
                <a:cs typeface="Times New Roman" pitchFamily="18" charset="0"/>
              </a:rPr>
              <a:t> shows the actual Coca-Cola stock price movement over time.</a:t>
            </a:r>
          </a:p>
          <a:p>
            <a:r>
              <a:rPr lang="en-US" sz="2000" dirty="0">
                <a:latin typeface="Times New Roman" pitchFamily="18" charset="0"/>
                <a:cs typeface="Times New Roman" pitchFamily="18" charset="0"/>
              </a:rPr>
              <a:t>The </a:t>
            </a:r>
            <a:r>
              <a:rPr lang="en-US" sz="2000" b="1" dirty="0">
                <a:latin typeface="Times New Roman" pitchFamily="18" charset="0"/>
                <a:cs typeface="Times New Roman" pitchFamily="18" charset="0"/>
              </a:rPr>
              <a:t>orange dashed line (MA_20)</a:t>
            </a:r>
            <a:r>
              <a:rPr lang="en-US" sz="2000" dirty="0">
                <a:latin typeface="Times New Roman" pitchFamily="18" charset="0"/>
                <a:cs typeface="Times New Roman" pitchFamily="18" charset="0"/>
              </a:rPr>
              <a:t> shows short-term trends.</a:t>
            </a:r>
          </a:p>
          <a:p>
            <a:r>
              <a:rPr lang="en-US" sz="2000" dirty="0">
                <a:latin typeface="Times New Roman" pitchFamily="18" charset="0"/>
                <a:cs typeface="Times New Roman" pitchFamily="18" charset="0"/>
              </a:rPr>
              <a:t>The </a:t>
            </a:r>
            <a:r>
              <a:rPr lang="en-US" sz="2000" b="1" dirty="0">
                <a:latin typeface="Times New Roman" pitchFamily="18" charset="0"/>
                <a:cs typeface="Times New Roman" pitchFamily="18" charset="0"/>
              </a:rPr>
              <a:t>green dashed line (MA_50)</a:t>
            </a:r>
            <a:r>
              <a:rPr lang="en-US" sz="2000" dirty="0">
                <a:latin typeface="Times New Roman" pitchFamily="18" charset="0"/>
                <a:cs typeface="Times New Roman" pitchFamily="18" charset="0"/>
              </a:rPr>
              <a:t> shows medium-term trends.</a:t>
            </a:r>
          </a:p>
          <a:p>
            <a:r>
              <a:rPr lang="en-US" sz="2000" dirty="0">
                <a:latin typeface="Times New Roman" pitchFamily="18" charset="0"/>
                <a:cs typeface="Times New Roman" pitchFamily="18" charset="0"/>
              </a:rPr>
              <a:t>When the </a:t>
            </a:r>
            <a:r>
              <a:rPr lang="en-US" sz="2000" b="1" dirty="0">
                <a:latin typeface="Times New Roman" pitchFamily="18" charset="0"/>
                <a:cs typeface="Times New Roman" pitchFamily="18" charset="0"/>
              </a:rPr>
              <a:t>MA_20 crosses above MA_50</a:t>
            </a:r>
            <a:r>
              <a:rPr lang="en-US" sz="2000" dirty="0">
                <a:latin typeface="Times New Roman" pitchFamily="18" charset="0"/>
                <a:cs typeface="Times New Roman" pitchFamily="18" charset="0"/>
              </a:rPr>
              <a:t>, it’s often considered a </a:t>
            </a:r>
            <a:r>
              <a:rPr lang="en-US" sz="2000" b="1" dirty="0">
                <a:latin typeface="Times New Roman" pitchFamily="18" charset="0"/>
                <a:cs typeface="Times New Roman" pitchFamily="18" charset="0"/>
              </a:rPr>
              <a:t>bullish signal</a:t>
            </a:r>
            <a:r>
              <a:rPr lang="en-US" sz="2000" dirty="0">
                <a:latin typeface="Times New Roman" pitchFamily="18" charset="0"/>
                <a:cs typeface="Times New Roman" pitchFamily="18" charset="0"/>
              </a:rPr>
              <a:t> (price might go up).</a:t>
            </a:r>
          </a:p>
          <a:p>
            <a:r>
              <a:rPr lang="en-US" sz="2000" dirty="0">
                <a:latin typeface="Times New Roman" pitchFamily="18" charset="0"/>
                <a:cs typeface="Times New Roman" pitchFamily="18" charset="0"/>
              </a:rPr>
              <a:t>When the </a:t>
            </a:r>
            <a:r>
              <a:rPr lang="en-US" sz="2000" b="1" dirty="0">
                <a:latin typeface="Times New Roman" pitchFamily="18" charset="0"/>
                <a:cs typeface="Times New Roman" pitchFamily="18" charset="0"/>
              </a:rPr>
              <a:t>MA_20 crosses below MA_50</a:t>
            </a:r>
            <a:r>
              <a:rPr lang="en-US" sz="2000" dirty="0">
                <a:latin typeface="Times New Roman" pitchFamily="18" charset="0"/>
                <a:cs typeface="Times New Roman" pitchFamily="18" charset="0"/>
              </a:rPr>
              <a:t>, it’s often a </a:t>
            </a:r>
            <a:r>
              <a:rPr lang="en-US" sz="2000" b="1" dirty="0">
                <a:latin typeface="Times New Roman" pitchFamily="18" charset="0"/>
                <a:cs typeface="Times New Roman" pitchFamily="18" charset="0"/>
              </a:rPr>
              <a:t>bearish signal</a:t>
            </a:r>
            <a:r>
              <a:rPr lang="en-US" sz="2000" dirty="0">
                <a:latin typeface="Times New Roman" pitchFamily="18" charset="0"/>
                <a:cs typeface="Times New Roman" pitchFamily="18" charset="0"/>
              </a:rPr>
              <a:t> (price might drop).</a:t>
            </a:r>
          </a:p>
          <a:p>
            <a:endParaRPr lang="en-IN" sz="2000" dirty="0"/>
          </a:p>
        </p:txBody>
      </p:sp>
      <p:sp>
        <p:nvSpPr>
          <p:cNvPr id="3" name="Title 2"/>
          <p:cNvSpPr>
            <a:spLocks noGrp="1"/>
          </p:cNvSpPr>
          <p:nvPr>
            <p:ph type="title"/>
          </p:nvPr>
        </p:nvSpPr>
        <p:spPr>
          <a:xfrm>
            <a:off x="457200" y="274638"/>
            <a:ext cx="8229600" cy="2290266"/>
          </a:xfrm>
        </p:spPr>
        <p:txBody>
          <a:bodyPr>
            <a:normAutofit/>
          </a:bodyPr>
          <a:lstStyle/>
          <a:p>
            <a:endParaRPr lang="en-IN" sz="18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536" y="260648"/>
            <a:ext cx="8280920" cy="2592287"/>
          </a:xfrm>
          <a:prstGeom prst="rect">
            <a:avLst/>
          </a:prstGeom>
        </p:spPr>
      </p:pic>
    </p:spTree>
    <p:extLst>
      <p:ext uri="{BB962C8B-B14F-4D97-AF65-F5344CB8AC3E}">
        <p14:creationId xmlns:p14="http://schemas.microsoft.com/office/powerpoint/2010/main" val="611784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284984"/>
            <a:ext cx="8229600" cy="2722307"/>
          </a:xfrm>
        </p:spPr>
        <p:txBody>
          <a:bodyPr>
            <a:normAutofit fontScale="92500" lnSpcReduction="10000"/>
          </a:bodyPr>
          <a:lstStyle/>
          <a:p>
            <a:r>
              <a:rPr lang="en-US" sz="2400" dirty="0">
                <a:latin typeface="Times New Roman" pitchFamily="18" charset="0"/>
                <a:cs typeface="Times New Roman" pitchFamily="18" charset="0"/>
              </a:rPr>
              <a:t>The histogram represents the </a:t>
            </a:r>
            <a:r>
              <a:rPr lang="en-US" sz="2400" b="1" dirty="0">
                <a:latin typeface="Times New Roman" pitchFamily="18" charset="0"/>
                <a:cs typeface="Times New Roman" pitchFamily="18" charset="0"/>
              </a:rPr>
              <a:t>frequency distribution of daily returns</a:t>
            </a:r>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The </a:t>
            </a:r>
            <a:r>
              <a:rPr lang="en-US" sz="2400" b="1" dirty="0">
                <a:latin typeface="Times New Roman" pitchFamily="18" charset="0"/>
                <a:cs typeface="Times New Roman" pitchFamily="18" charset="0"/>
              </a:rPr>
              <a:t>x-axis</a:t>
            </a:r>
            <a:r>
              <a:rPr lang="en-US" sz="2400" dirty="0">
                <a:latin typeface="Times New Roman" pitchFamily="18" charset="0"/>
                <a:cs typeface="Times New Roman" pitchFamily="18" charset="0"/>
              </a:rPr>
              <a:t> shows the daily return values (positive and negative %).</a:t>
            </a:r>
          </a:p>
          <a:p>
            <a:r>
              <a:rPr lang="en-US" sz="2400" dirty="0">
                <a:latin typeface="Times New Roman" pitchFamily="18" charset="0"/>
                <a:cs typeface="Times New Roman" pitchFamily="18" charset="0"/>
              </a:rPr>
              <a:t>The </a:t>
            </a:r>
            <a:r>
              <a:rPr lang="en-US" sz="2400" b="1" dirty="0">
                <a:latin typeface="Times New Roman" pitchFamily="18" charset="0"/>
                <a:cs typeface="Times New Roman" pitchFamily="18" charset="0"/>
              </a:rPr>
              <a:t>y-axis</a:t>
            </a:r>
            <a:r>
              <a:rPr lang="en-US" sz="2400" dirty="0">
                <a:latin typeface="Times New Roman" pitchFamily="18" charset="0"/>
                <a:cs typeface="Times New Roman" pitchFamily="18" charset="0"/>
              </a:rPr>
              <a:t> shows how often those returns occurred.</a:t>
            </a:r>
          </a:p>
          <a:p>
            <a:r>
              <a:rPr lang="en-US" sz="2400" dirty="0">
                <a:latin typeface="Times New Roman" pitchFamily="18" charset="0"/>
                <a:cs typeface="Times New Roman" pitchFamily="18" charset="0"/>
              </a:rPr>
              <a:t>Most returns are clustered around </a:t>
            </a:r>
            <a:r>
              <a:rPr lang="en-US" sz="2400" b="1" dirty="0">
                <a:latin typeface="Times New Roman" pitchFamily="18" charset="0"/>
                <a:cs typeface="Times New Roman" pitchFamily="18" charset="0"/>
              </a:rPr>
              <a:t>0%</a:t>
            </a:r>
            <a:r>
              <a:rPr lang="en-US" sz="2400" dirty="0">
                <a:latin typeface="Times New Roman" pitchFamily="18" charset="0"/>
                <a:cs typeface="Times New Roman" pitchFamily="18" charset="0"/>
              </a:rPr>
              <a:t>, meaning Coca-Cola’s stock generally shows </a:t>
            </a:r>
            <a:r>
              <a:rPr lang="en-US" sz="2400" b="1" dirty="0">
                <a:latin typeface="Times New Roman" pitchFamily="18" charset="0"/>
                <a:cs typeface="Times New Roman" pitchFamily="18" charset="0"/>
              </a:rPr>
              <a:t>low day-to-day volatility</a:t>
            </a:r>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A few extreme values (tails) represent </a:t>
            </a:r>
            <a:r>
              <a:rPr lang="en-US" sz="2400" b="1" dirty="0">
                <a:latin typeface="Times New Roman" pitchFamily="18" charset="0"/>
                <a:cs typeface="Times New Roman" pitchFamily="18" charset="0"/>
              </a:rPr>
              <a:t>large price jumps or drops</a:t>
            </a:r>
            <a:r>
              <a:rPr lang="en-US" sz="2400" dirty="0">
                <a:latin typeface="Times New Roman" pitchFamily="18" charset="0"/>
                <a:cs typeface="Times New Roman" pitchFamily="18" charset="0"/>
              </a:rPr>
              <a:t> (market shocks)</a:t>
            </a:r>
          </a:p>
          <a:p>
            <a:endParaRPr lang="en-IN" sz="1800" dirty="0"/>
          </a:p>
        </p:txBody>
      </p:sp>
      <p:sp>
        <p:nvSpPr>
          <p:cNvPr id="3" name="Title 2"/>
          <p:cNvSpPr>
            <a:spLocks noGrp="1"/>
          </p:cNvSpPr>
          <p:nvPr>
            <p:ph type="title"/>
          </p:nvPr>
        </p:nvSpPr>
        <p:spPr>
          <a:xfrm>
            <a:off x="457200" y="274638"/>
            <a:ext cx="8229600" cy="2794322"/>
          </a:xfrm>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536" y="203938"/>
            <a:ext cx="8424936" cy="2865022"/>
          </a:xfrm>
          <a:prstGeom prst="rect">
            <a:avLst/>
          </a:prstGeom>
        </p:spPr>
      </p:pic>
    </p:spTree>
    <p:extLst>
      <p:ext uri="{BB962C8B-B14F-4D97-AF65-F5344CB8AC3E}">
        <p14:creationId xmlns:p14="http://schemas.microsoft.com/office/powerpoint/2010/main" val="2109836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996952"/>
            <a:ext cx="8229600" cy="3010339"/>
          </a:xfrm>
        </p:spPr>
        <p:txBody>
          <a:bodyPr>
            <a:normAutofit fontScale="92500" lnSpcReduction="20000"/>
          </a:bodyPr>
          <a:lstStyle/>
          <a:p>
            <a:endParaRPr lang="en-US" sz="2000" dirty="0" smtClean="0"/>
          </a:p>
          <a:p>
            <a:r>
              <a:rPr lang="en-US" sz="2400" dirty="0" smtClean="0">
                <a:latin typeface="Times New Roman" pitchFamily="18" charset="0"/>
                <a:cs typeface="Times New Roman" pitchFamily="18" charset="0"/>
              </a:rPr>
              <a:t>“</a:t>
            </a:r>
            <a:r>
              <a:rPr lang="en-US" sz="2400" dirty="0">
                <a:latin typeface="Times New Roman" pitchFamily="18" charset="0"/>
                <a:cs typeface="Times New Roman" pitchFamily="18" charset="0"/>
              </a:rPr>
              <a:t>The correlation </a:t>
            </a:r>
            <a:r>
              <a:rPr lang="en-US" sz="2400" dirty="0" err="1">
                <a:latin typeface="Times New Roman" pitchFamily="18" charset="0"/>
                <a:cs typeface="Times New Roman" pitchFamily="18" charset="0"/>
              </a:rPr>
              <a:t>heatmap</a:t>
            </a:r>
            <a:r>
              <a:rPr lang="en-US" sz="2400" dirty="0">
                <a:latin typeface="Times New Roman" pitchFamily="18" charset="0"/>
                <a:cs typeface="Times New Roman" pitchFamily="18" charset="0"/>
              </a:rPr>
              <a:t> shows how different stock indicators are related to each </a:t>
            </a:r>
            <a:r>
              <a:rPr lang="en-US" sz="2400" dirty="0" smtClean="0">
                <a:latin typeface="Times New Roman" pitchFamily="18" charset="0"/>
                <a:cs typeface="Times New Roman" pitchFamily="18" charset="0"/>
              </a:rPr>
              <a:t>other”.</a:t>
            </a:r>
            <a:endParaRPr lang="en-US" sz="2400" dirty="0">
              <a:latin typeface="Times New Roman" pitchFamily="18" charset="0"/>
              <a:cs typeface="Times New Roman" pitchFamily="18" charset="0"/>
            </a:endParaRPr>
          </a:p>
          <a:p>
            <a:r>
              <a:rPr lang="en-US" sz="2400" dirty="0" smtClean="0">
                <a:latin typeface="Times New Roman" pitchFamily="18" charset="0"/>
                <a:cs typeface="Times New Roman" pitchFamily="18" charset="0"/>
              </a:rPr>
              <a:t>The </a:t>
            </a:r>
            <a:r>
              <a:rPr lang="en-US" sz="2400" dirty="0" err="1">
                <a:latin typeface="Times New Roman" pitchFamily="18" charset="0"/>
                <a:cs typeface="Times New Roman" pitchFamily="18" charset="0"/>
              </a:rPr>
              <a:t>heatmap</a:t>
            </a:r>
            <a:r>
              <a:rPr lang="en-US" sz="2400" dirty="0">
                <a:latin typeface="Times New Roman" pitchFamily="18" charset="0"/>
                <a:cs typeface="Times New Roman" pitchFamily="18" charset="0"/>
              </a:rPr>
              <a:t> visually represents </a:t>
            </a:r>
            <a:r>
              <a:rPr lang="en-US" sz="2400" b="1" dirty="0">
                <a:latin typeface="Times New Roman" pitchFamily="18" charset="0"/>
                <a:cs typeface="Times New Roman" pitchFamily="18" charset="0"/>
              </a:rPr>
              <a:t>how closely related</a:t>
            </a:r>
            <a:r>
              <a:rPr lang="en-US" sz="2400" dirty="0">
                <a:latin typeface="Times New Roman" pitchFamily="18" charset="0"/>
                <a:cs typeface="Times New Roman" pitchFamily="18" charset="0"/>
              </a:rPr>
              <a:t> each pair of features is.</a:t>
            </a:r>
          </a:p>
          <a:p>
            <a:r>
              <a:rPr lang="en-US" sz="2400" dirty="0">
                <a:latin typeface="Times New Roman" pitchFamily="18" charset="0"/>
                <a:cs typeface="Times New Roman" pitchFamily="18" charset="0"/>
              </a:rPr>
              <a:t>Correlation values range from:</a:t>
            </a:r>
          </a:p>
          <a:p>
            <a:r>
              <a:rPr lang="en-US" sz="2400" b="1" dirty="0">
                <a:latin typeface="Times New Roman" pitchFamily="18" charset="0"/>
                <a:cs typeface="Times New Roman" pitchFamily="18" charset="0"/>
              </a:rPr>
              <a:t>+1 → Strong positive relationship</a:t>
            </a:r>
            <a:endParaRPr lang="en-US" sz="2400" dirty="0">
              <a:latin typeface="Times New Roman" pitchFamily="18" charset="0"/>
              <a:cs typeface="Times New Roman" pitchFamily="18" charset="0"/>
            </a:endParaRPr>
          </a:p>
          <a:p>
            <a:r>
              <a:rPr lang="en-US" sz="2400" b="1" dirty="0">
                <a:latin typeface="Times New Roman" pitchFamily="18" charset="0"/>
                <a:cs typeface="Times New Roman" pitchFamily="18" charset="0"/>
              </a:rPr>
              <a:t>-1 → Strong negative relationship</a:t>
            </a:r>
            <a:endParaRPr lang="en-US" sz="2400" dirty="0">
              <a:latin typeface="Times New Roman" pitchFamily="18" charset="0"/>
              <a:cs typeface="Times New Roman" pitchFamily="18" charset="0"/>
            </a:endParaRPr>
          </a:p>
          <a:p>
            <a:r>
              <a:rPr lang="en-US" sz="2400" b="1" dirty="0">
                <a:latin typeface="Times New Roman" pitchFamily="18" charset="0"/>
                <a:cs typeface="Times New Roman" pitchFamily="18" charset="0"/>
              </a:rPr>
              <a:t>0 → No relationship</a:t>
            </a:r>
            <a:endParaRPr lang="en-US" sz="2400" dirty="0">
              <a:latin typeface="Times New Roman" pitchFamily="18" charset="0"/>
              <a:cs typeface="Times New Roman" pitchFamily="18" charset="0"/>
            </a:endParaRPr>
          </a:p>
          <a:p>
            <a:endParaRPr lang="en-IN" dirty="0"/>
          </a:p>
        </p:txBody>
      </p:sp>
      <p:sp>
        <p:nvSpPr>
          <p:cNvPr id="3" name="Title 2"/>
          <p:cNvSpPr>
            <a:spLocks noGrp="1"/>
          </p:cNvSpPr>
          <p:nvPr>
            <p:ph type="title"/>
          </p:nvPr>
        </p:nvSpPr>
        <p:spPr>
          <a:xfrm>
            <a:off x="457200" y="274638"/>
            <a:ext cx="8229600" cy="2506290"/>
          </a:xfrm>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544" y="260648"/>
            <a:ext cx="8208912" cy="2520280"/>
          </a:xfrm>
          <a:prstGeom prst="rect">
            <a:avLst/>
          </a:prstGeom>
        </p:spPr>
      </p:pic>
    </p:spTree>
    <p:extLst>
      <p:ext uri="{BB962C8B-B14F-4D97-AF65-F5344CB8AC3E}">
        <p14:creationId xmlns:p14="http://schemas.microsoft.com/office/powerpoint/2010/main" val="2368717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645024"/>
            <a:ext cx="8229600" cy="2362267"/>
          </a:xfrm>
        </p:spPr>
        <p:txBody>
          <a:bodyPr>
            <a:normAutofit fontScale="92500"/>
          </a:bodyPr>
          <a:lstStyle/>
          <a:p>
            <a:r>
              <a:rPr lang="en-US" sz="2400" dirty="0">
                <a:latin typeface="Times New Roman" pitchFamily="18" charset="0"/>
                <a:cs typeface="Times New Roman" pitchFamily="18" charset="0"/>
              </a:rPr>
              <a:t>The </a:t>
            </a:r>
            <a:r>
              <a:rPr lang="en-US" sz="2400" b="1" dirty="0">
                <a:latin typeface="Times New Roman" pitchFamily="18" charset="0"/>
                <a:cs typeface="Times New Roman" pitchFamily="18" charset="0"/>
              </a:rPr>
              <a:t>upward slope</a:t>
            </a:r>
            <a:r>
              <a:rPr lang="en-US" sz="2400" dirty="0">
                <a:latin typeface="Times New Roman" pitchFamily="18" charset="0"/>
                <a:cs typeface="Times New Roman" pitchFamily="18" charset="0"/>
              </a:rPr>
              <a:t> of the blue line over decades indicates </a:t>
            </a:r>
            <a:r>
              <a:rPr lang="en-US" sz="2400" b="1" dirty="0">
                <a:latin typeface="Times New Roman" pitchFamily="18" charset="0"/>
                <a:cs typeface="Times New Roman" pitchFamily="18" charset="0"/>
              </a:rPr>
              <a:t>steady long-term growth</a:t>
            </a:r>
            <a:r>
              <a:rPr lang="en-US" sz="2400" dirty="0">
                <a:latin typeface="Times New Roman" pitchFamily="18" charset="0"/>
                <a:cs typeface="Times New Roman" pitchFamily="18" charset="0"/>
              </a:rPr>
              <a:t> in Coca-Cola’s stock value.</a:t>
            </a:r>
          </a:p>
          <a:p>
            <a:r>
              <a:rPr lang="en-US" sz="2400" dirty="0">
                <a:latin typeface="Times New Roman" pitchFamily="18" charset="0"/>
                <a:cs typeface="Times New Roman" pitchFamily="18" charset="0"/>
              </a:rPr>
              <a:t>You may also notice </a:t>
            </a:r>
            <a:r>
              <a:rPr lang="en-US" sz="2400" b="1" dirty="0">
                <a:latin typeface="Times New Roman" pitchFamily="18" charset="0"/>
                <a:cs typeface="Times New Roman" pitchFamily="18" charset="0"/>
              </a:rPr>
              <a:t>short-term dips</a:t>
            </a:r>
            <a:r>
              <a:rPr lang="en-US" sz="2400" dirty="0">
                <a:latin typeface="Times New Roman" pitchFamily="18" charset="0"/>
                <a:cs typeface="Times New Roman" pitchFamily="18" charset="0"/>
              </a:rPr>
              <a:t> — these correspond to market corrections or global events (e.g., recessions, COVID-19).</a:t>
            </a:r>
          </a:p>
          <a:p>
            <a:r>
              <a:rPr lang="en-US" sz="2400" dirty="0">
                <a:latin typeface="Times New Roman" pitchFamily="18" charset="0"/>
                <a:cs typeface="Times New Roman" pitchFamily="18" charset="0"/>
              </a:rPr>
              <a:t>The chart highlights how Coca-Cola’s stock has been a </a:t>
            </a:r>
            <a:r>
              <a:rPr lang="en-US" sz="2400" b="1" dirty="0">
                <a:latin typeface="Times New Roman" pitchFamily="18" charset="0"/>
                <a:cs typeface="Times New Roman" pitchFamily="18" charset="0"/>
              </a:rPr>
              <a:t>stable, growing investment</a:t>
            </a:r>
            <a:r>
              <a:rPr lang="en-US" sz="2400" dirty="0">
                <a:latin typeface="Times New Roman" pitchFamily="18" charset="0"/>
                <a:cs typeface="Times New Roman" pitchFamily="18" charset="0"/>
              </a:rPr>
              <a:t> over time</a:t>
            </a:r>
          </a:p>
          <a:p>
            <a:endParaRPr lang="en-IN" dirty="0"/>
          </a:p>
        </p:txBody>
      </p:sp>
      <p:sp>
        <p:nvSpPr>
          <p:cNvPr id="3" name="Title 2"/>
          <p:cNvSpPr>
            <a:spLocks noGrp="1"/>
          </p:cNvSpPr>
          <p:nvPr>
            <p:ph type="title"/>
          </p:nvPr>
        </p:nvSpPr>
        <p:spPr>
          <a:xfrm>
            <a:off x="457200" y="274638"/>
            <a:ext cx="8229600" cy="2794322"/>
          </a:xfrm>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544" y="260649"/>
            <a:ext cx="8280920" cy="2880319"/>
          </a:xfrm>
          <a:prstGeom prst="rect">
            <a:avLst/>
          </a:prstGeom>
        </p:spPr>
      </p:pic>
    </p:spTree>
    <p:extLst>
      <p:ext uri="{BB962C8B-B14F-4D97-AF65-F5344CB8AC3E}">
        <p14:creationId xmlns:p14="http://schemas.microsoft.com/office/powerpoint/2010/main" val="1648874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356992"/>
            <a:ext cx="8229600" cy="2650299"/>
          </a:xfrm>
        </p:spPr>
        <p:txBody>
          <a:bodyPr>
            <a:normAutofit fontScale="62500" lnSpcReduction="20000"/>
          </a:bodyPr>
          <a:lstStyle/>
          <a:p>
            <a:r>
              <a:rPr lang="en-US" sz="3100" dirty="0">
                <a:latin typeface="Times New Roman" pitchFamily="18" charset="0"/>
                <a:cs typeface="Times New Roman" pitchFamily="18" charset="0"/>
              </a:rPr>
              <a:t>The </a:t>
            </a:r>
            <a:r>
              <a:rPr lang="en-US" sz="3100" b="1" dirty="0">
                <a:latin typeface="Times New Roman" pitchFamily="18" charset="0"/>
                <a:cs typeface="Times New Roman" pitchFamily="18" charset="0"/>
              </a:rPr>
              <a:t>height of each bar</a:t>
            </a:r>
            <a:r>
              <a:rPr lang="en-US" sz="3100" dirty="0">
                <a:latin typeface="Times New Roman" pitchFamily="18" charset="0"/>
                <a:cs typeface="Times New Roman" pitchFamily="18" charset="0"/>
              </a:rPr>
              <a:t> shows how many Coca-Cola shares were traded on that date.</a:t>
            </a:r>
          </a:p>
          <a:p>
            <a:r>
              <a:rPr lang="en-US" sz="3100" b="1" dirty="0">
                <a:latin typeface="Times New Roman" pitchFamily="18" charset="0"/>
                <a:cs typeface="Times New Roman" pitchFamily="18" charset="0"/>
              </a:rPr>
              <a:t>Spikes in volume</a:t>
            </a:r>
            <a:r>
              <a:rPr lang="en-US" sz="3100" dirty="0">
                <a:latin typeface="Times New Roman" pitchFamily="18" charset="0"/>
                <a:cs typeface="Times New Roman" pitchFamily="18" charset="0"/>
              </a:rPr>
              <a:t> indicate high investor activity — often during:</a:t>
            </a:r>
          </a:p>
          <a:p>
            <a:pPr lvl="1"/>
            <a:r>
              <a:rPr lang="en-US" sz="3100" dirty="0">
                <a:latin typeface="Times New Roman" pitchFamily="18" charset="0"/>
                <a:cs typeface="Times New Roman" pitchFamily="18" charset="0"/>
              </a:rPr>
              <a:t>Earnings announcements,</a:t>
            </a:r>
          </a:p>
          <a:p>
            <a:pPr lvl="1"/>
            <a:r>
              <a:rPr lang="en-US" sz="3100" dirty="0">
                <a:latin typeface="Times New Roman" pitchFamily="18" charset="0"/>
                <a:cs typeface="Times New Roman" pitchFamily="18" charset="0"/>
              </a:rPr>
              <a:t>Product launches,</a:t>
            </a:r>
          </a:p>
          <a:p>
            <a:pPr lvl="1"/>
            <a:r>
              <a:rPr lang="en-US" sz="3100" dirty="0">
                <a:latin typeface="Times New Roman" pitchFamily="18" charset="0"/>
                <a:cs typeface="Times New Roman" pitchFamily="18" charset="0"/>
              </a:rPr>
              <a:t>Economic events, or</a:t>
            </a:r>
          </a:p>
          <a:p>
            <a:pPr lvl="1"/>
            <a:r>
              <a:rPr lang="en-US" sz="3100" dirty="0">
                <a:latin typeface="Times New Roman" pitchFamily="18" charset="0"/>
                <a:cs typeface="Times New Roman" pitchFamily="18" charset="0"/>
              </a:rPr>
              <a:t>Market corrections.</a:t>
            </a:r>
          </a:p>
          <a:p>
            <a:r>
              <a:rPr lang="en-US" sz="3100" b="1" dirty="0">
                <a:latin typeface="Times New Roman" pitchFamily="18" charset="0"/>
                <a:cs typeface="Times New Roman" pitchFamily="18" charset="0"/>
              </a:rPr>
              <a:t>Periods of low volume</a:t>
            </a:r>
            <a:r>
              <a:rPr lang="en-US" sz="3100" dirty="0">
                <a:latin typeface="Times New Roman" pitchFamily="18" charset="0"/>
                <a:cs typeface="Times New Roman" pitchFamily="18" charset="0"/>
              </a:rPr>
              <a:t> mean fewer trades, suggesting stability or reduced investor interest.</a:t>
            </a:r>
          </a:p>
          <a:p>
            <a:endParaRPr lang="en-IN" dirty="0"/>
          </a:p>
        </p:txBody>
      </p:sp>
      <p:sp>
        <p:nvSpPr>
          <p:cNvPr id="3" name="Title 2"/>
          <p:cNvSpPr>
            <a:spLocks noGrp="1"/>
          </p:cNvSpPr>
          <p:nvPr>
            <p:ph type="title"/>
          </p:nvPr>
        </p:nvSpPr>
        <p:spPr>
          <a:xfrm>
            <a:off x="457200" y="274638"/>
            <a:ext cx="8229600" cy="2650306"/>
          </a:xfrm>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544" y="199574"/>
            <a:ext cx="8208912" cy="2725370"/>
          </a:xfrm>
          <a:prstGeom prst="rect">
            <a:avLst/>
          </a:prstGeom>
        </p:spPr>
      </p:pic>
    </p:spTree>
    <p:extLst>
      <p:ext uri="{BB962C8B-B14F-4D97-AF65-F5344CB8AC3E}">
        <p14:creationId xmlns:p14="http://schemas.microsoft.com/office/powerpoint/2010/main" val="726310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789040"/>
            <a:ext cx="8229600" cy="2218251"/>
          </a:xfrm>
        </p:spPr>
        <p:txBody>
          <a:bodyPr/>
          <a:lstStyle/>
          <a:p>
            <a:r>
              <a:rPr lang="en-US" dirty="0">
                <a:latin typeface="Times New Roman" pitchFamily="18" charset="0"/>
                <a:cs typeface="Times New Roman" pitchFamily="18" charset="0"/>
              </a:rPr>
              <a:t>“</a:t>
            </a:r>
            <a:r>
              <a:rPr lang="en-US" sz="1800" dirty="0">
                <a:latin typeface="Times New Roman" pitchFamily="18" charset="0"/>
                <a:cs typeface="Times New Roman" pitchFamily="18" charset="0"/>
              </a:rPr>
              <a:t>We used the describe() function to view summary statistics of Coca-Cola’s stock dataset.</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The results show that the company’s stock price has steadily increased over time, with relatively low volatility in daily returns.</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This indicates Coca-Cola’s stock is a stable, long-term performer with consistent trading activity.”</a:t>
            </a:r>
            <a:endParaRPr lang="en-IN" sz="1800" dirty="0">
              <a:latin typeface="Times New Roman" pitchFamily="18" charset="0"/>
              <a:cs typeface="Times New Roman" pitchFamily="18" charset="0"/>
            </a:endParaRPr>
          </a:p>
        </p:txBody>
      </p:sp>
      <p:sp>
        <p:nvSpPr>
          <p:cNvPr id="3" name="Title 2"/>
          <p:cNvSpPr>
            <a:spLocks noGrp="1"/>
          </p:cNvSpPr>
          <p:nvPr>
            <p:ph type="title"/>
          </p:nvPr>
        </p:nvSpPr>
        <p:spPr>
          <a:xfrm>
            <a:off x="457200" y="274638"/>
            <a:ext cx="8229600" cy="3154362"/>
          </a:xfrm>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544" y="332656"/>
            <a:ext cx="8208912" cy="3096344"/>
          </a:xfrm>
          <a:prstGeom prst="rect">
            <a:avLst/>
          </a:prstGeom>
        </p:spPr>
      </p:pic>
    </p:spTree>
    <p:extLst>
      <p:ext uri="{BB962C8B-B14F-4D97-AF65-F5344CB8AC3E}">
        <p14:creationId xmlns:p14="http://schemas.microsoft.com/office/powerpoint/2010/main" val="84707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861048"/>
            <a:ext cx="8229600" cy="2146243"/>
          </a:xfrm>
        </p:spPr>
        <p:txBody>
          <a:bodyPr>
            <a:noAutofit/>
          </a:bodyPr>
          <a:lstStyle/>
          <a:p>
            <a:r>
              <a:rPr lang="en-US" sz="2400" dirty="0">
                <a:latin typeface="Times New Roman" pitchFamily="18" charset="0"/>
                <a:cs typeface="Times New Roman" pitchFamily="18" charset="0"/>
              </a:rPr>
              <a:t>“We selected 8 key features such as Open, High, Volume, and Moving Averages to predict the Closing Price.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The dataset was split into 80% training and 20% testing without shuffling, since stock data is time series and must remain in order.</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This ensures the model learns from past data and is evaluated on future unseen data.”</a:t>
            </a:r>
            <a:endParaRPr lang="en-IN" sz="2400" dirty="0">
              <a:latin typeface="Times New Roman" pitchFamily="18" charset="0"/>
              <a:cs typeface="Times New Roman" pitchFamily="18" charset="0"/>
            </a:endParaRPr>
          </a:p>
        </p:txBody>
      </p:sp>
      <p:sp>
        <p:nvSpPr>
          <p:cNvPr id="3" name="Title 2"/>
          <p:cNvSpPr>
            <a:spLocks noGrp="1"/>
          </p:cNvSpPr>
          <p:nvPr>
            <p:ph type="title"/>
          </p:nvPr>
        </p:nvSpPr>
        <p:spPr>
          <a:xfrm>
            <a:off x="457200" y="274638"/>
            <a:ext cx="8229600" cy="2146250"/>
          </a:xfrm>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528" y="260648"/>
            <a:ext cx="8352928" cy="3312368"/>
          </a:xfrm>
          <a:prstGeom prst="rect">
            <a:avLst/>
          </a:prstGeom>
        </p:spPr>
      </p:pic>
    </p:spTree>
    <p:extLst>
      <p:ext uri="{BB962C8B-B14F-4D97-AF65-F5344CB8AC3E}">
        <p14:creationId xmlns:p14="http://schemas.microsoft.com/office/powerpoint/2010/main" val="1083716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717032"/>
            <a:ext cx="8229600" cy="2290259"/>
          </a:xfrm>
        </p:spPr>
        <p:txBody>
          <a:bodyPr>
            <a:normAutofit/>
          </a:bodyPr>
          <a:lstStyle/>
          <a:p>
            <a:r>
              <a:rPr lang="en-US" sz="1800" dirty="0">
                <a:latin typeface="Times New Roman" pitchFamily="18" charset="0"/>
                <a:cs typeface="Times New Roman" pitchFamily="18" charset="0"/>
              </a:rPr>
              <a:t>“</a:t>
            </a:r>
            <a:r>
              <a:rPr lang="en-US" sz="2400" dirty="0">
                <a:latin typeface="Times New Roman" pitchFamily="18" charset="0"/>
                <a:cs typeface="Times New Roman" pitchFamily="18" charset="0"/>
              </a:rPr>
              <a:t>We trained a Random Forest </a:t>
            </a:r>
            <a:r>
              <a:rPr lang="en-US" sz="2400" dirty="0" err="1">
                <a:latin typeface="Times New Roman" pitchFamily="18" charset="0"/>
                <a:cs typeface="Times New Roman" pitchFamily="18" charset="0"/>
              </a:rPr>
              <a:t>Regressor</a:t>
            </a:r>
            <a:r>
              <a:rPr lang="en-US" sz="2400" dirty="0">
                <a:latin typeface="Times New Roman" pitchFamily="18" charset="0"/>
                <a:cs typeface="Times New Roman" pitchFamily="18" charset="0"/>
              </a:rPr>
              <a:t> model with 100 decision trees to predict Coca-Cola’s closing price.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Random Forest is highly effective for stock market prediction because it reduces </a:t>
            </a:r>
            <a:r>
              <a:rPr lang="en-US" sz="2400" dirty="0" err="1">
                <a:latin typeface="Times New Roman" pitchFamily="18" charset="0"/>
                <a:cs typeface="Times New Roman" pitchFamily="18" charset="0"/>
              </a:rPr>
              <a:t>overfitting</a:t>
            </a:r>
            <a:r>
              <a:rPr lang="en-US" sz="2400" dirty="0">
                <a:latin typeface="Times New Roman" pitchFamily="18" charset="0"/>
                <a:cs typeface="Times New Roman" pitchFamily="18" charset="0"/>
              </a:rPr>
              <a:t> and captures complex patterns.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The model learns the relationship between key features such as Open, High, Volume, Moving Averages, and Volatility.”</a:t>
            </a:r>
            <a:endParaRPr lang="en-IN" sz="2400" dirty="0">
              <a:latin typeface="Times New Roman" pitchFamily="18" charset="0"/>
              <a:cs typeface="Times New Roman" pitchFamily="18" charset="0"/>
            </a:endParaRPr>
          </a:p>
        </p:txBody>
      </p:sp>
      <p:sp>
        <p:nvSpPr>
          <p:cNvPr id="3" name="Title 2"/>
          <p:cNvSpPr>
            <a:spLocks noGrp="1"/>
          </p:cNvSpPr>
          <p:nvPr>
            <p:ph type="title"/>
          </p:nvPr>
        </p:nvSpPr>
        <p:spPr>
          <a:xfrm>
            <a:off x="457200" y="274638"/>
            <a:ext cx="8229600" cy="2650306"/>
          </a:xfrm>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544" y="308999"/>
            <a:ext cx="8240275" cy="3086531"/>
          </a:xfrm>
          <a:prstGeom prst="rect">
            <a:avLst/>
          </a:prstGeom>
        </p:spPr>
      </p:pic>
    </p:spTree>
    <p:extLst>
      <p:ext uri="{BB962C8B-B14F-4D97-AF65-F5344CB8AC3E}">
        <p14:creationId xmlns:p14="http://schemas.microsoft.com/office/powerpoint/2010/main" val="1297412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9632" y="548680"/>
            <a:ext cx="6696744" cy="3212976"/>
          </a:xfrm>
        </p:spPr>
      </p:pic>
      <p:sp>
        <p:nvSpPr>
          <p:cNvPr id="3" name="Title 2"/>
          <p:cNvSpPr>
            <a:spLocks noGrp="1"/>
          </p:cNvSpPr>
          <p:nvPr>
            <p:ph type="title"/>
          </p:nvPr>
        </p:nvSpPr>
        <p:spPr>
          <a:xfrm>
            <a:off x="457200" y="3356992"/>
            <a:ext cx="8229600" cy="2880320"/>
          </a:xfrm>
        </p:spPr>
        <p:txBody>
          <a:bodyPr>
            <a:normAutofit/>
          </a:bodyPr>
          <a:lstStyle/>
          <a:p>
            <a:r>
              <a:rPr lang="en-US" sz="2400" dirty="0"/>
              <a:t>“</a:t>
            </a:r>
            <a:r>
              <a:rPr lang="en-US" sz="2400" b="0" dirty="0">
                <a:latin typeface="Times New Roman" pitchFamily="18" charset="0"/>
                <a:cs typeface="Times New Roman" pitchFamily="18" charset="0"/>
              </a:rPr>
              <a:t>We evaluated the performance of the Random Forest model using MAE and RMSE.</a:t>
            </a:r>
            <a:br>
              <a:rPr lang="en-US" sz="2400" b="0" dirty="0">
                <a:latin typeface="Times New Roman" pitchFamily="18" charset="0"/>
                <a:cs typeface="Times New Roman" pitchFamily="18" charset="0"/>
              </a:rPr>
            </a:br>
            <a:r>
              <a:rPr lang="en-US" sz="2400" b="0" dirty="0">
                <a:latin typeface="Times New Roman" pitchFamily="18" charset="0"/>
                <a:cs typeface="Times New Roman" pitchFamily="18" charset="0"/>
              </a:rPr>
              <a:t>The model shows a low error margin, with an average prediction error of around $1–2.</a:t>
            </a:r>
            <a:br>
              <a:rPr lang="en-US" sz="2400" b="0" dirty="0">
                <a:latin typeface="Times New Roman" pitchFamily="18" charset="0"/>
                <a:cs typeface="Times New Roman" pitchFamily="18" charset="0"/>
              </a:rPr>
            </a:br>
            <a:r>
              <a:rPr lang="en-US" sz="2400" b="0" dirty="0">
                <a:latin typeface="Times New Roman" pitchFamily="18" charset="0"/>
                <a:cs typeface="Times New Roman" pitchFamily="18" charset="0"/>
              </a:rPr>
              <a:t>This indicates that the model performs well in capturing trends and forecasting Coca-Cola’s stock prices.”</a:t>
            </a:r>
            <a:endParaRPr lang="en-IN" sz="2400" b="0" dirty="0">
              <a:latin typeface="Times New Roman" pitchFamily="18" charset="0"/>
              <a:cs typeface="Times New Roman" pitchFamily="18" charset="0"/>
            </a:endParaRPr>
          </a:p>
        </p:txBody>
      </p:sp>
    </p:spTree>
    <p:extLst>
      <p:ext uri="{BB962C8B-B14F-4D97-AF65-F5344CB8AC3E}">
        <p14:creationId xmlns:p14="http://schemas.microsoft.com/office/powerpoint/2010/main" val="1134667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645024"/>
            <a:ext cx="8229600" cy="2362267"/>
          </a:xfrm>
        </p:spPr>
        <p:txBody>
          <a:bodyPr>
            <a:normAutofit/>
          </a:bodyPr>
          <a:lstStyle/>
          <a:p>
            <a:r>
              <a:rPr lang="en-US" sz="2000" dirty="0">
                <a:latin typeface="Times New Roman" pitchFamily="18" charset="0"/>
                <a:cs typeface="Times New Roman" pitchFamily="18" charset="0"/>
              </a:rPr>
              <a:t>“</a:t>
            </a:r>
            <a:r>
              <a:rPr lang="en-US" sz="2400" dirty="0">
                <a:latin typeface="Times New Roman" pitchFamily="18" charset="0"/>
                <a:cs typeface="Times New Roman" pitchFamily="18" charset="0"/>
              </a:rPr>
              <a:t>This chart compares the actual Coca-Cola stock prices with the predicted values from the Random Forest model.</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The predicted line closely follows the actual price trend, showing that the model captures market behavior effectively.</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Minor deviations represent prediction errors, which are within an acceptable range based on our MAE and RMSE values.”</a:t>
            </a:r>
            <a:endParaRPr lang="en-IN" sz="2400" dirty="0">
              <a:latin typeface="Times New Roman" pitchFamily="18" charset="0"/>
              <a:cs typeface="Times New Roman" pitchFamily="18" charset="0"/>
            </a:endParaRPr>
          </a:p>
        </p:txBody>
      </p:sp>
      <p:sp>
        <p:nvSpPr>
          <p:cNvPr id="3" name="Title 2"/>
          <p:cNvSpPr>
            <a:spLocks noGrp="1"/>
          </p:cNvSpPr>
          <p:nvPr>
            <p:ph type="title"/>
          </p:nvPr>
        </p:nvSpPr>
        <p:spPr>
          <a:xfrm>
            <a:off x="457200" y="274638"/>
            <a:ext cx="8229600" cy="2794322"/>
          </a:xfrm>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545" y="260648"/>
            <a:ext cx="8208912" cy="2952328"/>
          </a:xfrm>
          <a:prstGeom prst="rect">
            <a:avLst/>
          </a:prstGeom>
        </p:spPr>
      </p:pic>
    </p:spTree>
    <p:extLst>
      <p:ext uri="{BB962C8B-B14F-4D97-AF65-F5344CB8AC3E}">
        <p14:creationId xmlns:p14="http://schemas.microsoft.com/office/powerpoint/2010/main" val="37060341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509120"/>
            <a:ext cx="8229600" cy="1498171"/>
          </a:xfrm>
        </p:spPr>
        <p:txBody>
          <a:bodyPr>
            <a:noAutofit/>
          </a:bodyPr>
          <a:lstStyle/>
          <a:p>
            <a:r>
              <a:rPr lang="en-US" sz="2400" dirty="0">
                <a:latin typeface="Times New Roman" pitchFamily="18" charset="0"/>
                <a:cs typeface="Times New Roman" pitchFamily="18" charset="0"/>
              </a:rPr>
              <a:t>Once the model was trained and evaluated, we saved it using </a:t>
            </a:r>
            <a:r>
              <a:rPr lang="en-US" sz="2400" dirty="0" err="1">
                <a:latin typeface="Times New Roman" pitchFamily="18" charset="0"/>
                <a:cs typeface="Times New Roman" pitchFamily="18" charset="0"/>
              </a:rPr>
              <a:t>joblib</a:t>
            </a:r>
            <a:r>
              <a:rPr lang="en-US" sz="2400" dirty="0">
                <a:latin typeface="Times New Roman" pitchFamily="18" charset="0"/>
                <a:cs typeface="Times New Roman" pitchFamily="18" charset="0"/>
              </a:rPr>
              <a:t> as a .</a:t>
            </a:r>
            <a:r>
              <a:rPr lang="en-US" sz="2400" dirty="0" err="1">
                <a:latin typeface="Times New Roman" pitchFamily="18" charset="0"/>
                <a:cs typeface="Times New Roman" pitchFamily="18" charset="0"/>
              </a:rPr>
              <a:t>pkl</a:t>
            </a:r>
            <a:r>
              <a:rPr lang="en-US" sz="2400" dirty="0">
                <a:latin typeface="Times New Roman" pitchFamily="18" charset="0"/>
                <a:cs typeface="Times New Roman" pitchFamily="18" charset="0"/>
              </a:rPr>
              <a:t> file.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This allows us to reuse the model without retraining, enabling fast real-time predictions and easy deployment in applications.”</a:t>
            </a:r>
            <a:endParaRPr lang="en-IN" sz="2400" dirty="0">
              <a:latin typeface="Times New Roman" pitchFamily="18" charset="0"/>
              <a:cs typeface="Times New Roman" pitchFamily="18" charset="0"/>
            </a:endParaRPr>
          </a:p>
        </p:txBody>
      </p:sp>
      <p:sp>
        <p:nvSpPr>
          <p:cNvPr id="3" name="Title 2"/>
          <p:cNvSpPr>
            <a:spLocks noGrp="1"/>
          </p:cNvSpPr>
          <p:nvPr>
            <p:ph type="title"/>
          </p:nvPr>
        </p:nvSpPr>
        <p:spPr>
          <a:xfrm>
            <a:off x="539552" y="620688"/>
            <a:ext cx="8147248" cy="3168352"/>
          </a:xfrm>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620688"/>
            <a:ext cx="8136903" cy="3168352"/>
          </a:xfrm>
          <a:prstGeom prst="rect">
            <a:avLst/>
          </a:prstGeom>
        </p:spPr>
      </p:pic>
    </p:spTree>
    <p:extLst>
      <p:ext uri="{BB962C8B-B14F-4D97-AF65-F5344CB8AC3E}">
        <p14:creationId xmlns:p14="http://schemas.microsoft.com/office/powerpoint/2010/main" val="42714582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501008"/>
            <a:ext cx="8229600" cy="2506283"/>
          </a:xfrm>
        </p:spPr>
        <p:txBody>
          <a:bodyPr>
            <a:normAutofit/>
          </a:bodyPr>
          <a:lstStyle/>
          <a:p>
            <a:r>
              <a:rPr lang="en-US" sz="2400" dirty="0"/>
              <a:t>“To build a live prediction system, we first load the trained Random Forest model and connect to Yahoo Finance using the ticker symbol ‘KO’.</a:t>
            </a:r>
            <a:br>
              <a:rPr lang="en-US" sz="2400" dirty="0"/>
            </a:br>
            <a:r>
              <a:rPr lang="en-US" sz="2400" dirty="0"/>
              <a:t>The </a:t>
            </a:r>
            <a:r>
              <a:rPr lang="en-US" sz="2400" dirty="0" err="1"/>
              <a:t>yfinance</a:t>
            </a:r>
            <a:r>
              <a:rPr lang="en-US" sz="2400" dirty="0"/>
              <a:t> library allows us to fetch real-time data, which the model uses to generate up-to-date price predictions.”</a:t>
            </a:r>
            <a:endParaRPr lang="en-IN" sz="2400" dirty="0"/>
          </a:p>
        </p:txBody>
      </p:sp>
      <p:sp>
        <p:nvSpPr>
          <p:cNvPr id="3" name="Title 2"/>
          <p:cNvSpPr>
            <a:spLocks noGrp="1"/>
          </p:cNvSpPr>
          <p:nvPr>
            <p:ph type="title"/>
          </p:nvPr>
        </p:nvSpPr>
        <p:spPr>
          <a:xfrm>
            <a:off x="457200" y="274638"/>
            <a:ext cx="8229600" cy="3010346"/>
          </a:xfrm>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544" y="332656"/>
            <a:ext cx="8208912" cy="2952328"/>
          </a:xfrm>
          <a:prstGeom prst="rect">
            <a:avLst/>
          </a:prstGeom>
        </p:spPr>
      </p:pic>
    </p:spTree>
    <p:extLst>
      <p:ext uri="{BB962C8B-B14F-4D97-AF65-F5344CB8AC3E}">
        <p14:creationId xmlns:p14="http://schemas.microsoft.com/office/powerpoint/2010/main" val="2549672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717032"/>
            <a:ext cx="8229600" cy="2290259"/>
          </a:xfrm>
        </p:spPr>
        <p:txBody>
          <a:bodyPr>
            <a:normAutofit fontScale="92500" lnSpcReduction="20000"/>
          </a:bodyPr>
          <a:lstStyle/>
          <a:p>
            <a:r>
              <a:rPr lang="en-US" dirty="0">
                <a:latin typeface="Times New Roman" pitchFamily="18" charset="0"/>
                <a:cs typeface="Times New Roman" pitchFamily="18" charset="0"/>
              </a:rPr>
              <a:t>“For live predictions, we first attempt to fetch today’s 1-minute interval data using the </a:t>
            </a:r>
            <a:r>
              <a:rPr lang="en-US" dirty="0" err="1">
                <a:latin typeface="Times New Roman" pitchFamily="18" charset="0"/>
                <a:cs typeface="Times New Roman" pitchFamily="18" charset="0"/>
              </a:rPr>
              <a:t>yfinance</a:t>
            </a:r>
            <a:r>
              <a:rPr lang="en-US" dirty="0">
                <a:latin typeface="Times New Roman" pitchFamily="18" charset="0"/>
                <a:cs typeface="Times New Roman" pitchFamily="18" charset="0"/>
              </a:rPr>
              <a:t> API.</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If the market is closed or live data is unavailable, the system automatically switches to the last five days of hourly data.</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This ensures that the model always receives the latest possible stock information for accurate predictions</a:t>
            </a:r>
            <a:r>
              <a:rPr lang="en-US" dirty="0"/>
              <a:t>.”</a:t>
            </a:r>
          </a:p>
          <a:p>
            <a:endParaRPr lang="en-IN" dirty="0"/>
          </a:p>
        </p:txBody>
      </p:sp>
      <p:sp>
        <p:nvSpPr>
          <p:cNvPr id="3" name="Title 2"/>
          <p:cNvSpPr>
            <a:spLocks noGrp="1"/>
          </p:cNvSpPr>
          <p:nvPr>
            <p:ph type="title"/>
          </p:nvPr>
        </p:nvSpPr>
        <p:spPr>
          <a:xfrm>
            <a:off x="457200" y="274638"/>
            <a:ext cx="8229600" cy="3154362"/>
          </a:xfrm>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930" y="332656"/>
            <a:ext cx="8195525" cy="3168352"/>
          </a:xfrm>
          <a:prstGeom prst="rect">
            <a:avLst/>
          </a:prstGeom>
        </p:spPr>
      </p:pic>
    </p:spTree>
    <p:extLst>
      <p:ext uri="{BB962C8B-B14F-4D97-AF65-F5344CB8AC3E}">
        <p14:creationId xmlns:p14="http://schemas.microsoft.com/office/powerpoint/2010/main" val="453397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005064"/>
            <a:ext cx="8229600" cy="2002227"/>
          </a:xfrm>
        </p:spPr>
        <p:txBody>
          <a:bodyPr>
            <a:normAutofit fontScale="77500" lnSpcReduction="20000"/>
          </a:bodyPr>
          <a:lstStyle/>
          <a:p>
            <a:r>
              <a:rPr lang="en-US" dirty="0">
                <a:latin typeface="Times New Roman" pitchFamily="18" charset="0"/>
                <a:cs typeface="Times New Roman" pitchFamily="18" charset="0"/>
              </a:rPr>
              <a:t>“After downloading live stock data, we computed the same technical indicators used during model training — Moving Averages, Daily Returns, and Volatility.</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These features help the model understand market trends in real time.</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We handled missing values by replacing them with zero to ensure the model receives valid input for prediction.”</a:t>
            </a:r>
            <a:endParaRPr lang="en-IN" dirty="0">
              <a:latin typeface="Times New Roman" pitchFamily="18" charset="0"/>
              <a:cs typeface="Times New Roman" pitchFamily="18" charset="0"/>
            </a:endParaRPr>
          </a:p>
        </p:txBody>
      </p:sp>
      <p:sp>
        <p:nvSpPr>
          <p:cNvPr id="3" name="Title 2"/>
          <p:cNvSpPr>
            <a:spLocks noGrp="1"/>
          </p:cNvSpPr>
          <p:nvPr>
            <p:ph type="title"/>
          </p:nvPr>
        </p:nvSpPr>
        <p:spPr>
          <a:xfrm>
            <a:off x="457200" y="274638"/>
            <a:ext cx="8229600" cy="3298378"/>
          </a:xfrm>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528" y="260648"/>
            <a:ext cx="8352927" cy="3384375"/>
          </a:xfrm>
          <a:prstGeom prst="rect">
            <a:avLst/>
          </a:prstGeom>
        </p:spPr>
      </p:pic>
    </p:spTree>
    <p:extLst>
      <p:ext uri="{BB962C8B-B14F-4D97-AF65-F5344CB8AC3E}">
        <p14:creationId xmlns:p14="http://schemas.microsoft.com/office/powerpoint/2010/main" val="36952431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717032"/>
            <a:ext cx="8229600" cy="2290259"/>
          </a:xfrm>
        </p:spPr>
        <p:txBody>
          <a:bodyPr>
            <a:normAutofit fontScale="92500"/>
          </a:bodyPr>
          <a:lstStyle/>
          <a:p>
            <a:r>
              <a:rPr lang="en-US" dirty="0">
                <a:latin typeface="Times New Roman" pitchFamily="18" charset="0"/>
                <a:cs typeface="Times New Roman" pitchFamily="18" charset="0"/>
              </a:rPr>
              <a:t>After preparing the live data, we extracted the most recent feature values and fed them into the trained Random Forest model. The model then predicted Coca-Cola’s expected closing price for the day. The final predicted price is displayed with two-decimal precision.”</a:t>
            </a:r>
          </a:p>
          <a:p>
            <a:endParaRPr lang="en-IN" dirty="0"/>
          </a:p>
        </p:txBody>
      </p:sp>
      <p:sp>
        <p:nvSpPr>
          <p:cNvPr id="3" name="Title 2"/>
          <p:cNvSpPr>
            <a:spLocks noGrp="1"/>
          </p:cNvSpPr>
          <p:nvPr>
            <p:ph type="title"/>
          </p:nvPr>
        </p:nvSpPr>
        <p:spPr>
          <a:xfrm>
            <a:off x="457200" y="274638"/>
            <a:ext cx="8229600" cy="3298378"/>
          </a:xfrm>
        </p:spPr>
        <p:txBody>
          <a:bodyPr/>
          <a:lstStyle/>
          <a:p>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416" y="332657"/>
            <a:ext cx="8218040" cy="3240359"/>
          </a:xfrm>
          <a:prstGeom prst="rect">
            <a:avLst/>
          </a:prstGeom>
        </p:spPr>
      </p:pic>
    </p:spTree>
    <p:extLst>
      <p:ext uri="{BB962C8B-B14F-4D97-AF65-F5344CB8AC3E}">
        <p14:creationId xmlns:p14="http://schemas.microsoft.com/office/powerpoint/2010/main" val="19198370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323522"/>
            <a:ext cx="8229600" cy="1683769"/>
          </a:xfrm>
        </p:spPr>
        <p:txBody>
          <a:bodyPr>
            <a:noAutofit/>
          </a:bodyPr>
          <a:lstStyle/>
          <a:p>
            <a:r>
              <a:rPr lang="en-US" sz="2000" dirty="0">
                <a:latin typeface="Times New Roman" pitchFamily="18" charset="0"/>
                <a:cs typeface="Times New Roman" pitchFamily="18" charset="0"/>
              </a:rPr>
              <a:t>The Coca-Cola stock history dataset was loaded using pandas. The Date column was converted into a standard </a:t>
            </a:r>
            <a:r>
              <a:rPr lang="en-US" sz="2000" dirty="0" err="1">
                <a:latin typeface="Times New Roman" pitchFamily="18" charset="0"/>
                <a:cs typeface="Times New Roman" pitchFamily="18" charset="0"/>
              </a:rPr>
              <a:t>datetime</a:t>
            </a:r>
            <a:r>
              <a:rPr lang="en-US" sz="2000" dirty="0">
                <a:latin typeface="Times New Roman" pitchFamily="18" charset="0"/>
                <a:cs typeface="Times New Roman" pitchFamily="18" charset="0"/>
              </a:rPr>
              <a:t> format using </a:t>
            </a:r>
            <a:r>
              <a:rPr lang="en-US" sz="2000" dirty="0" err="1">
                <a:latin typeface="Times New Roman" pitchFamily="18" charset="0"/>
                <a:cs typeface="Times New Roman" pitchFamily="18" charset="0"/>
              </a:rPr>
              <a:t>pd.to_datetime</a:t>
            </a:r>
            <a:r>
              <a:rPr lang="en-US" sz="2000" dirty="0">
                <a:latin typeface="Times New Roman" pitchFamily="18" charset="0"/>
                <a:cs typeface="Times New Roman" pitchFamily="18" charset="0"/>
              </a:rPr>
              <a:t>() to avoid inconsistencies. Any invalid dates were handled automatically using errors='coerce'. The dataset was then sorted by Date to ensure correct chronological order, which is essential for time-series analysis. Finally, the head of the dataset was displayed to verify that the data was correctly loaded and structured.”</a:t>
            </a:r>
            <a:endParaRPr lang="en-IN" sz="2000" dirty="0">
              <a:latin typeface="Times New Roman" pitchFamily="18" charset="0"/>
              <a:cs typeface="Times New Roman" pitchFamily="18" charset="0"/>
            </a:endParaRPr>
          </a:p>
        </p:txBody>
      </p:sp>
      <p:sp>
        <p:nvSpPr>
          <p:cNvPr id="3" name="Title 2"/>
          <p:cNvSpPr>
            <a:spLocks noGrp="1"/>
          </p:cNvSpPr>
          <p:nvPr>
            <p:ph type="title"/>
          </p:nvPr>
        </p:nvSpPr>
        <p:spPr>
          <a:xfrm>
            <a:off x="865108" y="274638"/>
            <a:ext cx="7435200" cy="3514402"/>
          </a:xfrm>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5108" y="260648"/>
            <a:ext cx="7435200" cy="3528392"/>
          </a:xfrm>
          <a:prstGeom prst="rect">
            <a:avLst/>
          </a:prstGeom>
        </p:spPr>
      </p:pic>
    </p:spTree>
    <p:extLst>
      <p:ext uri="{BB962C8B-B14F-4D97-AF65-F5344CB8AC3E}">
        <p14:creationId xmlns:p14="http://schemas.microsoft.com/office/powerpoint/2010/main" val="21279946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645024"/>
            <a:ext cx="8229600" cy="2362267"/>
          </a:xfrm>
        </p:spPr>
        <p:txBody>
          <a:bodyPr>
            <a:normAutofit fontScale="85000" lnSpcReduction="10000"/>
          </a:bodyPr>
          <a:lstStyle/>
          <a:p>
            <a:r>
              <a:rPr lang="en-US" dirty="0"/>
              <a:t>“</a:t>
            </a:r>
            <a:r>
              <a:rPr lang="en-US" dirty="0">
                <a:latin typeface="Times New Roman" pitchFamily="18" charset="0"/>
                <a:cs typeface="Times New Roman" pitchFamily="18" charset="0"/>
              </a:rPr>
              <a:t>The describe() function provides a summary of Coca-Cola’s closing stock prices. It shows that the stock has been traded for </a:t>
            </a:r>
            <a:r>
              <a:rPr lang="en-US" i="1" dirty="0">
                <a:latin typeface="Times New Roman" pitchFamily="18" charset="0"/>
                <a:cs typeface="Times New Roman" pitchFamily="18" charset="0"/>
              </a:rPr>
              <a:t>X</a:t>
            </a:r>
            <a:r>
              <a:rPr lang="en-US" dirty="0">
                <a:latin typeface="Times New Roman" pitchFamily="18" charset="0"/>
                <a:cs typeface="Times New Roman" pitchFamily="18" charset="0"/>
              </a:rPr>
              <a:t> days (count) with an average price of </a:t>
            </a:r>
            <a:r>
              <a:rPr lang="en-US" i="1" dirty="0">
                <a:latin typeface="Times New Roman" pitchFamily="18" charset="0"/>
                <a:cs typeface="Times New Roman" pitchFamily="18" charset="0"/>
              </a:rPr>
              <a:t>Y USD</a:t>
            </a:r>
            <a:r>
              <a:rPr lang="en-US" dirty="0">
                <a:latin typeface="Times New Roman" pitchFamily="18" charset="0"/>
                <a:cs typeface="Times New Roman" pitchFamily="18" charset="0"/>
              </a:rPr>
              <a:t>. The minimum and maximum values indicate the lowest and highest closing prices during the timeframe. The standard deviation shows price fluctuations, which help assess market volatility. The median and quartile values help understand the price distribution.”</a:t>
            </a:r>
            <a:endParaRPr lang="en-IN" dirty="0">
              <a:latin typeface="Times New Roman" pitchFamily="18" charset="0"/>
              <a:cs typeface="Times New Roman" pitchFamily="18" charset="0"/>
            </a:endParaRPr>
          </a:p>
        </p:txBody>
      </p:sp>
      <p:sp>
        <p:nvSpPr>
          <p:cNvPr id="3" name="Title 2"/>
          <p:cNvSpPr>
            <a:spLocks noGrp="1"/>
          </p:cNvSpPr>
          <p:nvPr>
            <p:ph type="title"/>
          </p:nvPr>
        </p:nvSpPr>
        <p:spPr>
          <a:xfrm>
            <a:off x="1403648" y="274637"/>
            <a:ext cx="5544616" cy="2938339"/>
          </a:xfrm>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648" y="260649"/>
            <a:ext cx="5544616" cy="2952328"/>
          </a:xfrm>
          <a:prstGeom prst="rect">
            <a:avLst/>
          </a:prstGeom>
        </p:spPr>
      </p:pic>
    </p:spTree>
    <p:extLst>
      <p:ext uri="{BB962C8B-B14F-4D97-AF65-F5344CB8AC3E}">
        <p14:creationId xmlns:p14="http://schemas.microsoft.com/office/powerpoint/2010/main" val="39541052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852936"/>
            <a:ext cx="8229600" cy="3154355"/>
          </a:xfrm>
        </p:spPr>
        <p:txBody>
          <a:bodyPr>
            <a:normAutofit/>
          </a:bodyPr>
          <a:lstStyle/>
          <a:p>
            <a:r>
              <a:rPr lang="en-US" sz="2000" dirty="0">
                <a:latin typeface="Times New Roman" pitchFamily="18" charset="0"/>
                <a:cs typeface="Times New Roman" pitchFamily="18" charset="0"/>
              </a:rPr>
              <a:t>“We imported the Coca-Cola financial information dataset to analyze key fundamentals such as profit margins, revenue growth, and operating efficiency. Since the data did not include headers, we assigned 'Description' and 'Information' as column names. Displaying the first 10 rows helped confirm successful loading. This dataset was later used to compare company financial strength along with stock performance.”</a:t>
            </a:r>
            <a:endParaRPr lang="en-IN" sz="2000" dirty="0">
              <a:latin typeface="Times New Roman" pitchFamily="18" charset="0"/>
              <a:cs typeface="Times New Roman" pitchFamily="18" charset="0"/>
            </a:endParaRPr>
          </a:p>
        </p:txBody>
      </p:sp>
      <p:sp>
        <p:nvSpPr>
          <p:cNvPr id="3" name="Title 2"/>
          <p:cNvSpPr>
            <a:spLocks noGrp="1"/>
          </p:cNvSpPr>
          <p:nvPr>
            <p:ph type="title"/>
          </p:nvPr>
        </p:nvSpPr>
        <p:spPr>
          <a:xfrm>
            <a:off x="457200" y="274638"/>
            <a:ext cx="8229600" cy="2117523"/>
          </a:xfrm>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544" y="318483"/>
            <a:ext cx="8208912" cy="2073678"/>
          </a:xfrm>
          <a:prstGeom prst="rect">
            <a:avLst/>
          </a:prstGeom>
        </p:spPr>
      </p:pic>
    </p:spTree>
    <p:extLst>
      <p:ext uri="{BB962C8B-B14F-4D97-AF65-F5344CB8AC3E}">
        <p14:creationId xmlns:p14="http://schemas.microsoft.com/office/powerpoint/2010/main" val="21548390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62500" lnSpcReduction="20000"/>
          </a:bodyPr>
          <a:lstStyle/>
          <a:p>
            <a:r>
              <a:rPr lang="en-IN" b="1" dirty="0">
                <a:latin typeface="Times New Roman" pitchFamily="18" charset="0"/>
                <a:cs typeface="Times New Roman" pitchFamily="18" charset="0"/>
              </a:rPr>
              <a:t>Programming &amp; Development</a:t>
            </a:r>
          </a:p>
          <a:p>
            <a:r>
              <a:rPr lang="en-IN" b="1" dirty="0">
                <a:latin typeface="Times New Roman" pitchFamily="18" charset="0"/>
                <a:cs typeface="Times New Roman" pitchFamily="18" charset="0"/>
              </a:rPr>
              <a:t>Python</a:t>
            </a:r>
            <a:r>
              <a:rPr lang="en-IN" dirty="0">
                <a:latin typeface="Times New Roman" pitchFamily="18" charset="0"/>
                <a:cs typeface="Times New Roman" pitchFamily="18" charset="0"/>
              </a:rPr>
              <a:t> – Main programming language</a:t>
            </a:r>
          </a:p>
          <a:p>
            <a:r>
              <a:rPr lang="en-IN" b="1" dirty="0" err="1">
                <a:latin typeface="Times New Roman" pitchFamily="18" charset="0"/>
                <a:cs typeface="Times New Roman" pitchFamily="18" charset="0"/>
              </a:rPr>
              <a:t>Jupyter</a:t>
            </a:r>
            <a:r>
              <a:rPr lang="en-IN" b="1" dirty="0">
                <a:latin typeface="Times New Roman" pitchFamily="18" charset="0"/>
                <a:cs typeface="Times New Roman" pitchFamily="18" charset="0"/>
              </a:rPr>
              <a:t> Notebook</a:t>
            </a:r>
            <a:r>
              <a:rPr lang="en-IN" dirty="0">
                <a:latin typeface="Times New Roman" pitchFamily="18" charset="0"/>
                <a:cs typeface="Times New Roman" pitchFamily="18" charset="0"/>
              </a:rPr>
              <a:t> – For development, analysis, and model training</a:t>
            </a:r>
          </a:p>
          <a:p>
            <a:r>
              <a:rPr lang="en-IN" b="1" dirty="0">
                <a:latin typeface="Times New Roman" pitchFamily="18" charset="0"/>
                <a:cs typeface="Times New Roman" pitchFamily="18" charset="0"/>
              </a:rPr>
              <a:t>VS Code</a:t>
            </a:r>
            <a:r>
              <a:rPr lang="en-IN" dirty="0">
                <a:latin typeface="Times New Roman" pitchFamily="18" charset="0"/>
                <a:cs typeface="Times New Roman" pitchFamily="18" charset="0"/>
              </a:rPr>
              <a:t> – Used for deployment preparation &amp; file execution</a:t>
            </a:r>
          </a:p>
          <a:p>
            <a:r>
              <a:rPr lang="en-IN" b="1" dirty="0" smtClean="0">
                <a:latin typeface="Times New Roman" pitchFamily="18" charset="0"/>
                <a:cs typeface="Times New Roman" pitchFamily="18" charset="0"/>
              </a:rPr>
              <a:t> </a:t>
            </a:r>
            <a:r>
              <a:rPr lang="en-IN" b="1" dirty="0">
                <a:latin typeface="Times New Roman" pitchFamily="18" charset="0"/>
                <a:cs typeface="Times New Roman" pitchFamily="18" charset="0"/>
              </a:rPr>
              <a:t>Python Libraries</a:t>
            </a:r>
          </a:p>
          <a:p>
            <a:r>
              <a:rPr lang="en-IN" b="1" i="1" dirty="0" smtClean="0">
                <a:latin typeface="Times New Roman" pitchFamily="18" charset="0"/>
                <a:cs typeface="Times New Roman" pitchFamily="18" charset="0"/>
              </a:rPr>
              <a:t>Data </a:t>
            </a:r>
            <a:r>
              <a:rPr lang="en-IN" b="1" i="1" dirty="0">
                <a:latin typeface="Times New Roman" pitchFamily="18" charset="0"/>
                <a:cs typeface="Times New Roman" pitchFamily="18" charset="0"/>
              </a:rPr>
              <a:t>Handling &amp; Processing</a:t>
            </a:r>
            <a:endParaRPr lang="en-IN" b="1" dirty="0">
              <a:latin typeface="Times New Roman" pitchFamily="18" charset="0"/>
              <a:cs typeface="Times New Roman" pitchFamily="18" charset="0"/>
            </a:endParaRPr>
          </a:p>
          <a:p>
            <a:pPr marL="109728" indent="0">
              <a:buNone/>
            </a:pPr>
            <a:r>
              <a:rPr lang="en-IN" dirty="0" smtClean="0">
                <a:latin typeface="Times New Roman" pitchFamily="18" charset="0"/>
                <a:cs typeface="Times New Roman" pitchFamily="18" charset="0"/>
              </a:rPr>
              <a:t>     pandas </a:t>
            </a:r>
            <a:r>
              <a:rPr lang="en-IN" dirty="0">
                <a:latin typeface="Times New Roman" pitchFamily="18" charset="0"/>
                <a:cs typeface="Times New Roman" pitchFamily="18" charset="0"/>
              </a:rPr>
              <a:t>– Data loading, cleaning, manipulation</a:t>
            </a:r>
          </a:p>
          <a:p>
            <a:pPr marL="109728" indent="0">
              <a:buNone/>
            </a:pP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numpy</a:t>
            </a:r>
            <a:r>
              <a:rPr lang="en-IN" dirty="0" smtClean="0">
                <a:latin typeface="Times New Roman" pitchFamily="18" charset="0"/>
                <a:cs typeface="Times New Roman" pitchFamily="18" charset="0"/>
              </a:rPr>
              <a:t> </a:t>
            </a:r>
            <a:r>
              <a:rPr lang="en-IN" dirty="0">
                <a:latin typeface="Times New Roman" pitchFamily="18" charset="0"/>
                <a:cs typeface="Times New Roman" pitchFamily="18" charset="0"/>
              </a:rPr>
              <a:t>– Numerical </a:t>
            </a:r>
            <a:r>
              <a:rPr lang="en-IN" dirty="0" smtClean="0">
                <a:latin typeface="Times New Roman" pitchFamily="18" charset="0"/>
                <a:cs typeface="Times New Roman" pitchFamily="18" charset="0"/>
              </a:rPr>
              <a:t>computations</a:t>
            </a:r>
          </a:p>
          <a:p>
            <a:r>
              <a:rPr lang="en-IN" b="1" i="1" dirty="0" smtClean="0">
                <a:latin typeface="Times New Roman" pitchFamily="18" charset="0"/>
                <a:cs typeface="Times New Roman" pitchFamily="18" charset="0"/>
              </a:rPr>
              <a:t>Visualization</a:t>
            </a:r>
            <a:endParaRPr lang="en-IN" b="1" dirty="0">
              <a:latin typeface="Times New Roman" pitchFamily="18" charset="0"/>
              <a:cs typeface="Times New Roman" pitchFamily="18" charset="0"/>
            </a:endParaRPr>
          </a:p>
          <a:p>
            <a:r>
              <a:rPr lang="en-IN" dirty="0" err="1">
                <a:latin typeface="Times New Roman" pitchFamily="18" charset="0"/>
                <a:cs typeface="Times New Roman" pitchFamily="18" charset="0"/>
              </a:rPr>
              <a:t>matplotlib</a:t>
            </a:r>
            <a:r>
              <a:rPr lang="en-IN" dirty="0">
                <a:latin typeface="Times New Roman" pitchFamily="18" charset="0"/>
                <a:cs typeface="Times New Roman" pitchFamily="18" charset="0"/>
              </a:rPr>
              <a:t> – Line plots, graphs</a:t>
            </a:r>
          </a:p>
          <a:p>
            <a:r>
              <a:rPr lang="en-IN" dirty="0" err="1">
                <a:latin typeface="Times New Roman" pitchFamily="18" charset="0"/>
                <a:cs typeface="Times New Roman" pitchFamily="18" charset="0"/>
              </a:rPr>
              <a:t>seaborn</a:t>
            </a:r>
            <a:r>
              <a:rPr lang="en-IN" dirty="0">
                <a:latin typeface="Times New Roman" pitchFamily="18" charset="0"/>
                <a:cs typeface="Times New Roman" pitchFamily="18" charset="0"/>
              </a:rPr>
              <a:t> – </a:t>
            </a:r>
            <a:r>
              <a:rPr lang="en-IN" dirty="0" err="1">
                <a:latin typeface="Times New Roman" pitchFamily="18" charset="0"/>
                <a:cs typeface="Times New Roman" pitchFamily="18" charset="0"/>
              </a:rPr>
              <a:t>Heatmaps</a:t>
            </a:r>
            <a:r>
              <a:rPr lang="en-IN" dirty="0">
                <a:latin typeface="Times New Roman" pitchFamily="18" charset="0"/>
                <a:cs typeface="Times New Roman" pitchFamily="18" charset="0"/>
              </a:rPr>
              <a:t> &amp; statistical visualization</a:t>
            </a:r>
          </a:p>
          <a:p>
            <a:r>
              <a:rPr lang="en-IN" b="1" dirty="0" smtClean="0">
                <a:latin typeface="Times New Roman" pitchFamily="18" charset="0"/>
                <a:cs typeface="Times New Roman" pitchFamily="18" charset="0"/>
              </a:rPr>
              <a:t> </a:t>
            </a:r>
            <a:r>
              <a:rPr lang="en-IN" b="1" i="1" dirty="0">
                <a:latin typeface="Times New Roman" pitchFamily="18" charset="0"/>
                <a:cs typeface="Times New Roman" pitchFamily="18" charset="0"/>
              </a:rPr>
              <a:t>Machine Learning</a:t>
            </a:r>
            <a:endParaRPr lang="en-IN" b="1" dirty="0">
              <a:latin typeface="Times New Roman" pitchFamily="18" charset="0"/>
              <a:cs typeface="Times New Roman" pitchFamily="18" charset="0"/>
            </a:endParaRPr>
          </a:p>
          <a:p>
            <a:r>
              <a:rPr lang="en-IN" dirty="0" err="1">
                <a:latin typeface="Times New Roman" pitchFamily="18" charset="0"/>
                <a:cs typeface="Times New Roman" pitchFamily="18" charset="0"/>
              </a:rPr>
              <a:t>scikit</a:t>
            </a:r>
            <a:r>
              <a:rPr lang="en-IN" dirty="0">
                <a:latin typeface="Times New Roman" pitchFamily="18" charset="0"/>
                <a:cs typeface="Times New Roman" pitchFamily="18" charset="0"/>
              </a:rPr>
              <a:t>-learn – </a:t>
            </a:r>
            <a:r>
              <a:rPr lang="en-IN" dirty="0" err="1">
                <a:latin typeface="Times New Roman" pitchFamily="18" charset="0"/>
                <a:cs typeface="Times New Roman" pitchFamily="18" charset="0"/>
              </a:rPr>
              <a:t>RandomForestRegressor</a:t>
            </a:r>
            <a:r>
              <a:rPr lang="en-IN" dirty="0">
                <a:latin typeface="Times New Roman" pitchFamily="18" charset="0"/>
                <a:cs typeface="Times New Roman" pitchFamily="18" charset="0"/>
              </a:rPr>
              <a:t>, train-test split, metrics (MAE, RMSE)</a:t>
            </a:r>
          </a:p>
          <a:p>
            <a:r>
              <a:rPr lang="en-IN" dirty="0" err="1">
                <a:latin typeface="Times New Roman" pitchFamily="18" charset="0"/>
                <a:cs typeface="Times New Roman" pitchFamily="18" charset="0"/>
              </a:rPr>
              <a:t>joblib</a:t>
            </a:r>
            <a:r>
              <a:rPr lang="en-IN" dirty="0">
                <a:latin typeface="Times New Roman" pitchFamily="18" charset="0"/>
                <a:cs typeface="Times New Roman" pitchFamily="18" charset="0"/>
              </a:rPr>
              <a:t> – Saving and loading ML model (.</a:t>
            </a:r>
            <a:r>
              <a:rPr lang="en-IN" dirty="0" err="1">
                <a:latin typeface="Times New Roman" pitchFamily="18" charset="0"/>
                <a:cs typeface="Times New Roman" pitchFamily="18" charset="0"/>
              </a:rPr>
              <a:t>pkl</a:t>
            </a:r>
            <a:r>
              <a:rPr lang="en-IN" dirty="0">
                <a:latin typeface="Times New Roman" pitchFamily="18" charset="0"/>
                <a:cs typeface="Times New Roman" pitchFamily="18" charset="0"/>
              </a:rPr>
              <a:t> file)</a:t>
            </a:r>
          </a:p>
          <a:p>
            <a:r>
              <a:rPr lang="en-IN" b="1" dirty="0" smtClean="0">
                <a:latin typeface="Times New Roman" pitchFamily="18" charset="0"/>
                <a:cs typeface="Times New Roman" pitchFamily="18" charset="0"/>
              </a:rPr>
              <a:t> </a:t>
            </a:r>
            <a:r>
              <a:rPr lang="en-IN" b="1" i="1" dirty="0">
                <a:latin typeface="Times New Roman" pitchFamily="18" charset="0"/>
                <a:cs typeface="Times New Roman" pitchFamily="18" charset="0"/>
              </a:rPr>
              <a:t>Live Data &amp; Finance</a:t>
            </a:r>
            <a:endParaRPr lang="en-IN" b="1" dirty="0">
              <a:latin typeface="Times New Roman" pitchFamily="18" charset="0"/>
              <a:cs typeface="Times New Roman" pitchFamily="18" charset="0"/>
            </a:endParaRPr>
          </a:p>
          <a:p>
            <a:r>
              <a:rPr lang="en-IN" dirty="0" err="1">
                <a:latin typeface="Times New Roman" pitchFamily="18" charset="0"/>
                <a:cs typeface="Times New Roman" pitchFamily="18" charset="0"/>
              </a:rPr>
              <a:t>yfinance</a:t>
            </a:r>
            <a:r>
              <a:rPr lang="en-IN" dirty="0">
                <a:latin typeface="Times New Roman" pitchFamily="18" charset="0"/>
                <a:cs typeface="Times New Roman" pitchFamily="18" charset="0"/>
              </a:rPr>
              <a:t> – Fetching real-time stock market data</a:t>
            </a:r>
          </a:p>
          <a:p>
            <a:endParaRPr lang="en-IN" dirty="0"/>
          </a:p>
        </p:txBody>
      </p:sp>
      <p:sp>
        <p:nvSpPr>
          <p:cNvPr id="3" name="Title 2"/>
          <p:cNvSpPr>
            <a:spLocks noGrp="1"/>
          </p:cNvSpPr>
          <p:nvPr>
            <p:ph type="title"/>
          </p:nvPr>
        </p:nvSpPr>
        <p:spPr>
          <a:xfrm>
            <a:off x="457200" y="274638"/>
            <a:ext cx="8229600" cy="922114"/>
          </a:xfrm>
        </p:spPr>
        <p:txBody>
          <a:bodyPr>
            <a:normAutofit/>
          </a:bodyPr>
          <a:lstStyle/>
          <a:p>
            <a:r>
              <a:rPr lang="en-IN" sz="2800" dirty="0" smtClean="0"/>
              <a:t>Tools &amp; Technologies</a:t>
            </a:r>
            <a:endParaRPr lang="en-IN" sz="2800" dirty="0"/>
          </a:p>
        </p:txBody>
      </p:sp>
    </p:spTree>
    <p:extLst>
      <p:ext uri="{BB962C8B-B14F-4D97-AF65-F5344CB8AC3E}">
        <p14:creationId xmlns:p14="http://schemas.microsoft.com/office/powerpoint/2010/main" val="27938971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4000" dirty="0" smtClean="0">
                <a:latin typeface="Times New Roman" pitchFamily="18" charset="0"/>
                <a:cs typeface="Times New Roman" pitchFamily="18" charset="0"/>
              </a:rPr>
              <a:t>Key Insights</a:t>
            </a:r>
            <a:endParaRPr lang="en-IN" sz="4000" dirty="0">
              <a:latin typeface="Times New Roman" pitchFamily="18" charset="0"/>
              <a:cs typeface="Times New Roman" pitchFamily="18" charset="0"/>
            </a:endParaRPr>
          </a:p>
        </p:txBody>
      </p:sp>
      <p:sp>
        <p:nvSpPr>
          <p:cNvPr id="5" name="Content Placeholder 2"/>
          <p:cNvSpPr>
            <a:spLocks noGrp="1"/>
          </p:cNvSpPr>
          <p:nvPr>
            <p:ph idx="1"/>
          </p:nvPr>
        </p:nvSpPr>
        <p:spPr>
          <a:prstGeom prst="rect">
            <a:avLst/>
          </a:prstGeom>
        </p:spPr>
        <p:txBody>
          <a:bodyPr vert="horz" lIns="91440" tIns="45720" rIns="91440" bIns="45720" rtlCol="0">
            <a:normAutofit/>
          </a:bodyPr>
          <a:lstStyle/>
          <a:p>
            <a:r>
              <a:rPr lang="en-US" dirty="0">
                <a:latin typeface="Times New Roman" pitchFamily="18" charset="0"/>
                <a:cs typeface="Times New Roman" pitchFamily="18" charset="0"/>
              </a:rPr>
              <a:t>Coca-Cola stock shows stable growth with low volatility.</a:t>
            </a:r>
          </a:p>
          <a:p>
            <a:r>
              <a:rPr lang="en-US" dirty="0">
                <a:latin typeface="Times New Roman" pitchFamily="18" charset="0"/>
                <a:cs typeface="Times New Roman" pitchFamily="18" charset="0"/>
              </a:rPr>
              <a:t>Feature engineering (MA_20, MA_50, Daily Return, Volatility) improved prediction accuracy.</a:t>
            </a:r>
          </a:p>
          <a:p>
            <a:r>
              <a:rPr lang="en-US" dirty="0">
                <a:latin typeface="Times New Roman" pitchFamily="18" charset="0"/>
                <a:cs typeface="Times New Roman" pitchFamily="18" charset="0"/>
              </a:rPr>
              <a:t>Random Forest model performed well with low MAE and RMSE.</a:t>
            </a:r>
          </a:p>
          <a:p>
            <a:r>
              <a:rPr lang="en-US" dirty="0">
                <a:latin typeface="Times New Roman" pitchFamily="18" charset="0"/>
                <a:cs typeface="Times New Roman" pitchFamily="18" charset="0"/>
              </a:rPr>
              <a:t>Live prediction system works effectively using real-time data from Yahoo Finance.</a:t>
            </a:r>
          </a:p>
          <a:p>
            <a:r>
              <a:rPr lang="en-US" dirty="0">
                <a:latin typeface="Times New Roman" pitchFamily="18" charset="0"/>
                <a:cs typeface="Times New Roman" pitchFamily="18" charset="0"/>
              </a:rPr>
              <a:t>Financial metrics (Profit Margin ~23%, Revenue Growth ~16%) indicate strong company stability.</a:t>
            </a:r>
          </a:p>
          <a:p>
            <a:endParaRPr lang="en-IN" dirty="0"/>
          </a:p>
        </p:txBody>
      </p:sp>
    </p:spTree>
    <p:extLst>
      <p:ext uri="{BB962C8B-B14F-4D97-AF65-F5344CB8AC3E}">
        <p14:creationId xmlns:p14="http://schemas.microsoft.com/office/powerpoint/2010/main" val="30756047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r>
              <a:rPr lang="en-US" sz="2000" b="1" dirty="0">
                <a:latin typeface="Times New Roman" pitchFamily="18" charset="0"/>
                <a:cs typeface="Times New Roman" pitchFamily="18" charset="0"/>
              </a:rPr>
              <a:t>Improves investment decision-making</a:t>
            </a:r>
            <a:r>
              <a:rPr lang="en-US" sz="2000" dirty="0">
                <a:latin typeface="Times New Roman" pitchFamily="18" charset="0"/>
                <a:cs typeface="Times New Roman" pitchFamily="18" charset="0"/>
              </a:rPr>
              <a:t> by predicting future stock prices with high accuracy.</a:t>
            </a:r>
          </a:p>
          <a:p>
            <a:r>
              <a:rPr lang="en-US" sz="2000" dirty="0" smtClean="0">
                <a:latin typeface="Times New Roman" pitchFamily="18" charset="0"/>
                <a:cs typeface="Times New Roman" pitchFamily="18" charset="0"/>
              </a:rPr>
              <a:t> </a:t>
            </a:r>
            <a:r>
              <a:rPr lang="en-US" sz="2000" b="1" dirty="0">
                <a:latin typeface="Times New Roman" pitchFamily="18" charset="0"/>
                <a:cs typeface="Times New Roman" pitchFamily="18" charset="0"/>
              </a:rPr>
              <a:t>Supports real-time trading strategies</a:t>
            </a:r>
            <a:r>
              <a:rPr lang="en-US" sz="2000" dirty="0">
                <a:latin typeface="Times New Roman" pitchFamily="18" charset="0"/>
                <a:cs typeface="Times New Roman" pitchFamily="18" charset="0"/>
              </a:rPr>
              <a:t> using live stock data for instant predictions.</a:t>
            </a:r>
          </a:p>
          <a:p>
            <a:r>
              <a:rPr lang="en-US" sz="2000" b="1" dirty="0" smtClean="0">
                <a:latin typeface="Times New Roman" pitchFamily="18" charset="0"/>
                <a:cs typeface="Times New Roman" pitchFamily="18" charset="0"/>
              </a:rPr>
              <a:t>Helps </a:t>
            </a:r>
            <a:r>
              <a:rPr lang="en-US" sz="2000" b="1" dirty="0">
                <a:latin typeface="Times New Roman" pitchFamily="18" charset="0"/>
                <a:cs typeface="Times New Roman" pitchFamily="18" charset="0"/>
              </a:rPr>
              <a:t>identify market trends and risk</a:t>
            </a:r>
            <a:r>
              <a:rPr lang="en-US" sz="2000" dirty="0">
                <a:latin typeface="Times New Roman" pitchFamily="18" charset="0"/>
                <a:cs typeface="Times New Roman" pitchFamily="18" charset="0"/>
              </a:rPr>
              <a:t> using technical indicators like volatility and returns.</a:t>
            </a:r>
          </a:p>
          <a:p>
            <a:r>
              <a:rPr lang="en-US" sz="2000" dirty="0" smtClean="0">
                <a:latin typeface="Times New Roman" pitchFamily="18" charset="0"/>
                <a:cs typeface="Times New Roman" pitchFamily="18" charset="0"/>
              </a:rPr>
              <a:t> </a:t>
            </a:r>
            <a:r>
              <a:rPr lang="en-US" sz="2000" b="1" dirty="0">
                <a:latin typeface="Times New Roman" pitchFamily="18" charset="0"/>
                <a:cs typeface="Times New Roman" pitchFamily="18" charset="0"/>
              </a:rPr>
              <a:t>Useful for financial institutions, investors, and portfolio managers</a:t>
            </a:r>
            <a:r>
              <a:rPr lang="en-US" sz="2000" dirty="0">
                <a:latin typeface="Times New Roman" pitchFamily="18" charset="0"/>
                <a:cs typeface="Times New Roman" pitchFamily="18" charset="0"/>
              </a:rPr>
              <a:t> to optimize investment decisions.</a:t>
            </a:r>
          </a:p>
          <a:p>
            <a:r>
              <a:rPr lang="en-US" sz="2000" dirty="0" smtClean="0">
                <a:latin typeface="Times New Roman" pitchFamily="18" charset="0"/>
                <a:cs typeface="Times New Roman" pitchFamily="18" charset="0"/>
              </a:rPr>
              <a:t> </a:t>
            </a:r>
            <a:r>
              <a:rPr lang="en-US" sz="2000" b="1" dirty="0">
                <a:latin typeface="Times New Roman" pitchFamily="18" charset="0"/>
                <a:cs typeface="Times New Roman" pitchFamily="18" charset="0"/>
              </a:rPr>
              <a:t>Enhances company financial understanding</a:t>
            </a:r>
            <a:r>
              <a:rPr lang="en-US" sz="2000" dirty="0">
                <a:latin typeface="Times New Roman" pitchFamily="18" charset="0"/>
                <a:cs typeface="Times New Roman" pitchFamily="18" charset="0"/>
              </a:rPr>
              <a:t> through profitability and growth analysis.</a:t>
            </a:r>
          </a:p>
          <a:p>
            <a:r>
              <a:rPr lang="en-US" sz="2000" b="1" dirty="0" smtClean="0">
                <a:latin typeface="Times New Roman" pitchFamily="18" charset="0"/>
                <a:cs typeface="Times New Roman" pitchFamily="18" charset="0"/>
              </a:rPr>
              <a:t>Model </a:t>
            </a:r>
            <a:r>
              <a:rPr lang="en-US" sz="2000" b="1" dirty="0">
                <a:latin typeface="Times New Roman" pitchFamily="18" charset="0"/>
                <a:cs typeface="Times New Roman" pitchFamily="18" charset="0"/>
              </a:rPr>
              <a:t>can be reused and adapted</a:t>
            </a:r>
            <a:r>
              <a:rPr lang="en-US" sz="2000" dirty="0">
                <a:latin typeface="Times New Roman" pitchFamily="18" charset="0"/>
                <a:cs typeface="Times New Roman" pitchFamily="18" charset="0"/>
              </a:rPr>
              <a:t> for other companies, making it scalable for broader financial applications.</a:t>
            </a:r>
          </a:p>
          <a:p>
            <a:r>
              <a:rPr lang="en-US" sz="2000" dirty="0" smtClean="0">
                <a:latin typeface="Times New Roman" pitchFamily="18" charset="0"/>
                <a:cs typeface="Times New Roman" pitchFamily="18" charset="0"/>
              </a:rPr>
              <a:t> </a:t>
            </a:r>
            <a:r>
              <a:rPr lang="en-US" sz="2000" b="1" dirty="0">
                <a:latin typeface="Times New Roman" pitchFamily="18" charset="0"/>
                <a:cs typeface="Times New Roman" pitchFamily="18" charset="0"/>
              </a:rPr>
              <a:t>Supports risk management and forecasting</a:t>
            </a:r>
            <a:r>
              <a:rPr lang="en-US" sz="2000" dirty="0">
                <a:latin typeface="Times New Roman" pitchFamily="18" charset="0"/>
                <a:cs typeface="Times New Roman" pitchFamily="18" charset="0"/>
              </a:rPr>
              <a:t> by combining both technical and financial analysis.</a:t>
            </a:r>
          </a:p>
          <a:p>
            <a:endParaRPr lang="en-IN" sz="2000" dirty="0">
              <a:latin typeface="Times New Roman" pitchFamily="18" charset="0"/>
              <a:cs typeface="Times New Roman" pitchFamily="18" charset="0"/>
            </a:endParaRPr>
          </a:p>
        </p:txBody>
      </p:sp>
      <p:sp>
        <p:nvSpPr>
          <p:cNvPr id="3" name="Title 2"/>
          <p:cNvSpPr>
            <a:spLocks noGrp="1"/>
          </p:cNvSpPr>
          <p:nvPr>
            <p:ph type="title"/>
          </p:nvPr>
        </p:nvSpPr>
        <p:spPr/>
        <p:txBody>
          <a:bodyPr/>
          <a:lstStyle/>
          <a:p>
            <a:r>
              <a:rPr lang="en-IN" dirty="0" smtClean="0">
                <a:latin typeface="Times New Roman" pitchFamily="18" charset="0"/>
                <a:cs typeface="Times New Roman" pitchFamily="18" charset="0"/>
              </a:rPr>
              <a:t>Business Values</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8205035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sz="2400" dirty="0">
                <a:latin typeface="Times New Roman" pitchFamily="18" charset="0"/>
                <a:cs typeface="Times New Roman" pitchFamily="18" charset="0"/>
              </a:rPr>
              <a:t>The financial data analysis reveals that </a:t>
            </a:r>
            <a:r>
              <a:rPr lang="en-US" sz="2400" b="1" dirty="0">
                <a:latin typeface="Times New Roman" pitchFamily="18" charset="0"/>
                <a:cs typeface="Times New Roman" pitchFamily="18" charset="0"/>
              </a:rPr>
              <a:t>The Coca-Cola Company is fundamentally strong and financially stable</a:t>
            </a:r>
            <a:r>
              <a:rPr lang="en-US" sz="2400" dirty="0">
                <a:latin typeface="Times New Roman" pitchFamily="18" charset="0"/>
                <a:cs typeface="Times New Roman" pitchFamily="18" charset="0"/>
              </a:rPr>
              <a:t>. Key metrics such as </a:t>
            </a:r>
            <a:r>
              <a:rPr lang="en-US" sz="2400" b="1" dirty="0">
                <a:latin typeface="Times New Roman" pitchFamily="18" charset="0"/>
                <a:cs typeface="Times New Roman" pitchFamily="18" charset="0"/>
              </a:rPr>
              <a:t>profit margin (~23.31%) and operating margin (~31.12%)</a:t>
            </a:r>
            <a:r>
              <a:rPr lang="en-US" sz="2400" dirty="0">
                <a:latin typeface="Times New Roman" pitchFamily="18" charset="0"/>
                <a:cs typeface="Times New Roman" pitchFamily="18" charset="0"/>
              </a:rPr>
              <a:t> indicate that the company maintains high operational efficiency and strong profitability. The presence of a solid </a:t>
            </a:r>
            <a:r>
              <a:rPr lang="en-US" sz="2400" b="1" dirty="0">
                <a:latin typeface="Times New Roman" pitchFamily="18" charset="0"/>
                <a:cs typeface="Times New Roman" pitchFamily="18" charset="0"/>
              </a:rPr>
              <a:t>EBITDA margin (~35.19%)</a:t>
            </a:r>
            <a:r>
              <a:rPr lang="en-US" sz="2400" dirty="0">
                <a:latin typeface="Times New Roman" pitchFamily="18" charset="0"/>
                <a:cs typeface="Times New Roman" pitchFamily="18" charset="0"/>
              </a:rPr>
              <a:t> further suggests consistent earnings performance.</a:t>
            </a:r>
          </a:p>
          <a:p>
            <a:r>
              <a:rPr lang="en-US" sz="2400" dirty="0">
                <a:latin typeface="Times New Roman" pitchFamily="18" charset="0"/>
                <a:cs typeface="Times New Roman" pitchFamily="18" charset="0"/>
              </a:rPr>
              <a:t>Additionally, a </a:t>
            </a:r>
            <a:r>
              <a:rPr lang="en-US" sz="2400" b="1" dirty="0">
                <a:latin typeface="Times New Roman" pitchFamily="18" charset="0"/>
                <a:cs typeface="Times New Roman" pitchFamily="18" charset="0"/>
              </a:rPr>
              <a:t>revenue growth rate of around 16%</a:t>
            </a:r>
            <a:r>
              <a:rPr lang="en-US" sz="2400" dirty="0">
                <a:latin typeface="Times New Roman" pitchFamily="18" charset="0"/>
                <a:cs typeface="Times New Roman" pitchFamily="18" charset="0"/>
              </a:rPr>
              <a:t> highlights positive business expansion, demonstrating that Coca-Cola continues to grow its market presence. The company operates with a large workforce (over </a:t>
            </a:r>
            <a:r>
              <a:rPr lang="en-US" sz="2400" b="1" dirty="0">
                <a:latin typeface="Times New Roman" pitchFamily="18" charset="0"/>
                <a:cs typeface="Times New Roman" pitchFamily="18" charset="0"/>
              </a:rPr>
              <a:t>80,000+ employees</a:t>
            </a:r>
            <a:r>
              <a:rPr lang="en-US" sz="2400" dirty="0">
                <a:latin typeface="Times New Roman" pitchFamily="18" charset="0"/>
                <a:cs typeface="Times New Roman" pitchFamily="18" charset="0"/>
              </a:rPr>
              <a:t>), supporting its global reach and distribution capabilities.</a:t>
            </a:r>
          </a:p>
          <a:p>
            <a:endParaRPr lang="en-IN" dirty="0"/>
          </a:p>
        </p:txBody>
      </p:sp>
      <p:sp>
        <p:nvSpPr>
          <p:cNvPr id="3" name="Title 2"/>
          <p:cNvSpPr>
            <a:spLocks noGrp="1"/>
          </p:cNvSpPr>
          <p:nvPr>
            <p:ph type="title"/>
          </p:nvPr>
        </p:nvSpPr>
        <p:spPr/>
        <p:txBody>
          <a:bodyPr/>
          <a:lstStyle/>
          <a:p>
            <a:r>
              <a:rPr lang="en-IN" dirty="0" smtClean="0">
                <a:latin typeface="Times New Roman" pitchFamily="18" charset="0"/>
                <a:cs typeface="Times New Roman" pitchFamily="18" charset="0"/>
              </a:rPr>
              <a:t>Conclusion</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3195401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276872"/>
            <a:ext cx="8229600" cy="1944216"/>
          </a:xfrm>
        </p:spPr>
        <p:txBody>
          <a:bodyPr/>
          <a:lstStyle/>
          <a:p>
            <a:r>
              <a:rPr lang="en-IN" dirty="0" smtClean="0"/>
              <a:t>                </a:t>
            </a:r>
            <a:r>
              <a:rPr lang="en-IN" dirty="0" smtClean="0">
                <a:latin typeface="Times New Roman" pitchFamily="18" charset="0"/>
                <a:cs typeface="Times New Roman" pitchFamily="18" charset="0"/>
              </a:rPr>
              <a:t>Thank You</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9333740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237</TotalTime>
  <Words>1356</Words>
  <Application>Microsoft Office PowerPoint</Application>
  <PresentationFormat>On-screen Show (4:3)</PresentationFormat>
  <Paragraphs>109</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Concourse</vt:lpstr>
      <vt:lpstr>Coca-Cola Stock Analysis</vt:lpstr>
      <vt:lpstr>Project Objective</vt:lpstr>
      <vt:lpstr>Data overview</vt:lpstr>
      <vt:lpstr>  “I started by loading Coca-Cola’s historical stock data using the Pandas library. The dataset contains over 15,000 daily records of Open, High, Low, Close, and Volume values, covering more than 60 years of market performance. We verified the structure of the dataset using data.shape and displayed the first few rows to confirm that the data loaded correctly.”</vt:lpstr>
      <vt:lpstr>“Feature engineering was performed to create additional variables that better represent stock behavior. We calculated moving averages (MA_20, MA_50) to capture short- and mid-term trends, daily returns to measure performance, and volatility to assess risk. These derived features enhance the predictive capability of the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“We evaluated the performance of the Random Forest model using MAE and RMSE. The model shows a low error margin, with an average prediction error of around $1–2. This indicates that the model performs well in capturing trends and forecasting Coca-Cola’s stock prices.”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Tools &amp; Technologies</vt:lpstr>
      <vt:lpstr>Key Insights</vt:lpstr>
      <vt:lpstr>Business Values</vt:lpstr>
      <vt:lpstr>Conclusion</vt:lpstr>
      <vt:lpstr>                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Coca-Cola Stock Analysis</dc:title>
  <dc:creator>ADMIN</dc:creator>
  <cp:lastModifiedBy>ADMIN</cp:lastModifiedBy>
  <cp:revision>25</cp:revision>
  <dcterms:created xsi:type="dcterms:W3CDTF">2025-11-13T17:09:21Z</dcterms:created>
  <dcterms:modified xsi:type="dcterms:W3CDTF">2025-11-22T08:09:09Z</dcterms:modified>
</cp:coreProperties>
</file>